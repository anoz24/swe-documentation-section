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77" r:id="rId10"/>
    <p:sldId id="278" r:id="rId11"/>
    <p:sldId id="279" r:id="rId12"/>
    <p:sldId id="280" r:id="rId13"/>
    <p:sldId id="281" r:id="rId14"/>
    <p:sldId id="283" r:id="rId15"/>
    <p:sldId id="268" r:id="rId16"/>
    <p:sldId id="28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67AD8-7EEC-4B04-BCC3-8CF2E9F75474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3E75C6-E257-42B8-9058-CF478B6D0105}">
      <dgm:prSet/>
      <dgm:spPr/>
      <dgm:t>
        <a:bodyPr/>
        <a:lstStyle/>
        <a:p>
          <a:r>
            <a:rPr lang="en-US" b="1"/>
            <a:t>Reminder </a:t>
          </a:r>
          <a:endParaRPr lang="en-US"/>
        </a:p>
      </dgm:t>
    </dgm:pt>
    <dgm:pt modelId="{F1C79C5C-049D-4AC8-8415-BEF1F22960D1}" type="parTrans" cxnId="{595B42B7-A1C9-4FD4-9D43-65700CC0A6F2}">
      <dgm:prSet/>
      <dgm:spPr/>
      <dgm:t>
        <a:bodyPr/>
        <a:lstStyle/>
        <a:p>
          <a:endParaRPr lang="en-US"/>
        </a:p>
      </dgm:t>
    </dgm:pt>
    <dgm:pt modelId="{49140365-404B-4D3B-B299-C97233AF2D4A}" type="sibTrans" cxnId="{595B42B7-A1C9-4FD4-9D43-65700CC0A6F2}">
      <dgm:prSet/>
      <dgm:spPr/>
      <dgm:t>
        <a:bodyPr/>
        <a:lstStyle/>
        <a:p>
          <a:endParaRPr lang="en-US"/>
        </a:p>
      </dgm:t>
    </dgm:pt>
    <dgm:pt modelId="{E0C680E6-9AD8-4E9F-A150-4B598626A59C}">
      <dgm:prSet/>
      <dgm:spPr/>
      <dgm:t>
        <a:bodyPr/>
        <a:lstStyle/>
        <a:p>
          <a:r>
            <a:rPr lang="en-US"/>
            <a:t>a popular, open-source, TypeScript-based frontend web framework developed by Google for building fast, scalable single-page applications (SPAs)</a:t>
          </a:r>
        </a:p>
      </dgm:t>
    </dgm:pt>
    <dgm:pt modelId="{0EE15881-6BC3-4E57-B3CF-702A0E777CA1}" type="parTrans" cxnId="{45C11810-5D83-4810-9725-3D5CAE082697}">
      <dgm:prSet/>
      <dgm:spPr/>
      <dgm:t>
        <a:bodyPr/>
        <a:lstStyle/>
        <a:p>
          <a:endParaRPr lang="en-US"/>
        </a:p>
      </dgm:t>
    </dgm:pt>
    <dgm:pt modelId="{48118719-A8DC-42EE-9C2B-0CAF0C1894A8}" type="sibTrans" cxnId="{45C11810-5D83-4810-9725-3D5CAE082697}">
      <dgm:prSet/>
      <dgm:spPr/>
      <dgm:t>
        <a:bodyPr/>
        <a:lstStyle/>
        <a:p>
          <a:endParaRPr lang="en-US"/>
        </a:p>
      </dgm:t>
    </dgm:pt>
    <dgm:pt modelId="{6A89B743-FBD8-46E5-B335-63B50A5E4564}" type="pres">
      <dgm:prSet presAssocID="{94467AD8-7EEC-4B04-BCC3-8CF2E9F75474}" presName="Name0" presStyleCnt="0">
        <dgm:presLayoutVars>
          <dgm:dir/>
          <dgm:animLvl val="lvl"/>
          <dgm:resizeHandles val="exact"/>
        </dgm:presLayoutVars>
      </dgm:prSet>
      <dgm:spPr/>
    </dgm:pt>
    <dgm:pt modelId="{9D673681-A787-43EF-9095-1675EF1FEF93}" type="pres">
      <dgm:prSet presAssocID="{E0C680E6-9AD8-4E9F-A150-4B598626A59C}" presName="boxAndChildren" presStyleCnt="0"/>
      <dgm:spPr/>
    </dgm:pt>
    <dgm:pt modelId="{75D7DF6F-E328-43A8-AF76-90AFCB17FD12}" type="pres">
      <dgm:prSet presAssocID="{E0C680E6-9AD8-4E9F-A150-4B598626A59C}" presName="parentTextBox" presStyleLbl="node1" presStyleIdx="0" presStyleCnt="2"/>
      <dgm:spPr/>
    </dgm:pt>
    <dgm:pt modelId="{27F7C26D-91C3-464D-86B1-E034EE45387F}" type="pres">
      <dgm:prSet presAssocID="{49140365-404B-4D3B-B299-C97233AF2D4A}" presName="sp" presStyleCnt="0"/>
      <dgm:spPr/>
    </dgm:pt>
    <dgm:pt modelId="{6B64A87F-4917-44F4-866B-BCBA0470D97D}" type="pres">
      <dgm:prSet presAssocID="{1F3E75C6-E257-42B8-9058-CF478B6D0105}" presName="arrowAndChildren" presStyleCnt="0"/>
      <dgm:spPr/>
    </dgm:pt>
    <dgm:pt modelId="{B7B96808-7CA9-444D-BE98-3261FF5683B6}" type="pres">
      <dgm:prSet presAssocID="{1F3E75C6-E257-42B8-9058-CF478B6D0105}" presName="parentTextArrow" presStyleLbl="node1" presStyleIdx="1" presStyleCnt="2"/>
      <dgm:spPr/>
    </dgm:pt>
  </dgm:ptLst>
  <dgm:cxnLst>
    <dgm:cxn modelId="{45C11810-5D83-4810-9725-3D5CAE082697}" srcId="{94467AD8-7EEC-4B04-BCC3-8CF2E9F75474}" destId="{E0C680E6-9AD8-4E9F-A150-4B598626A59C}" srcOrd="1" destOrd="0" parTransId="{0EE15881-6BC3-4E57-B3CF-702A0E777CA1}" sibTransId="{48118719-A8DC-42EE-9C2B-0CAF0C1894A8}"/>
    <dgm:cxn modelId="{6064A038-E617-4323-909B-5AF21F63DD21}" type="presOf" srcId="{1F3E75C6-E257-42B8-9058-CF478B6D0105}" destId="{B7B96808-7CA9-444D-BE98-3261FF5683B6}" srcOrd="0" destOrd="0" presId="urn:microsoft.com/office/officeart/2005/8/layout/process4"/>
    <dgm:cxn modelId="{1D356C39-0B57-47E3-A7DD-69361F7BC208}" type="presOf" srcId="{E0C680E6-9AD8-4E9F-A150-4B598626A59C}" destId="{75D7DF6F-E328-43A8-AF76-90AFCB17FD12}" srcOrd="0" destOrd="0" presId="urn:microsoft.com/office/officeart/2005/8/layout/process4"/>
    <dgm:cxn modelId="{595B42B7-A1C9-4FD4-9D43-65700CC0A6F2}" srcId="{94467AD8-7EEC-4B04-BCC3-8CF2E9F75474}" destId="{1F3E75C6-E257-42B8-9058-CF478B6D0105}" srcOrd="0" destOrd="0" parTransId="{F1C79C5C-049D-4AC8-8415-BEF1F22960D1}" sibTransId="{49140365-404B-4D3B-B299-C97233AF2D4A}"/>
    <dgm:cxn modelId="{AFEE7CBC-193B-4D09-B3E7-6993C526C4FA}" type="presOf" srcId="{94467AD8-7EEC-4B04-BCC3-8CF2E9F75474}" destId="{6A89B743-FBD8-46E5-B335-63B50A5E4564}" srcOrd="0" destOrd="0" presId="urn:microsoft.com/office/officeart/2005/8/layout/process4"/>
    <dgm:cxn modelId="{4DA2B745-E593-4577-9E70-FDF3860738CD}" type="presParOf" srcId="{6A89B743-FBD8-46E5-B335-63B50A5E4564}" destId="{9D673681-A787-43EF-9095-1675EF1FEF93}" srcOrd="0" destOrd="0" presId="urn:microsoft.com/office/officeart/2005/8/layout/process4"/>
    <dgm:cxn modelId="{5F07083B-8566-4C33-A1DF-37AA5E575445}" type="presParOf" srcId="{9D673681-A787-43EF-9095-1675EF1FEF93}" destId="{75D7DF6F-E328-43A8-AF76-90AFCB17FD12}" srcOrd="0" destOrd="0" presId="urn:microsoft.com/office/officeart/2005/8/layout/process4"/>
    <dgm:cxn modelId="{CB08D5C4-7804-4070-B76A-20730F3276AD}" type="presParOf" srcId="{6A89B743-FBD8-46E5-B335-63B50A5E4564}" destId="{27F7C26D-91C3-464D-86B1-E034EE45387F}" srcOrd="1" destOrd="0" presId="urn:microsoft.com/office/officeart/2005/8/layout/process4"/>
    <dgm:cxn modelId="{AC3A4CA2-2C02-4DB7-A41E-EE64293EA860}" type="presParOf" srcId="{6A89B743-FBD8-46E5-B335-63B50A5E4564}" destId="{6B64A87F-4917-44F4-866B-BCBA0470D97D}" srcOrd="2" destOrd="0" presId="urn:microsoft.com/office/officeart/2005/8/layout/process4"/>
    <dgm:cxn modelId="{0F7A7032-4682-4091-A832-6E21BFBA1644}" type="presParOf" srcId="{6B64A87F-4917-44F4-866B-BCBA0470D97D}" destId="{B7B96808-7CA9-444D-BE98-3261FF5683B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7DF6F-E328-43A8-AF76-90AFCB17FD12}">
      <dsp:nvSpPr>
        <dsp:cNvPr id="0" name=""/>
        <dsp:cNvSpPr/>
      </dsp:nvSpPr>
      <dsp:spPr>
        <a:xfrm>
          <a:off x="0" y="3245106"/>
          <a:ext cx="6620255" cy="21291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popular, open-source, TypeScript-based frontend web framework developed by Google for building fast, scalable single-page applications (SPAs)</a:t>
          </a:r>
        </a:p>
      </dsp:txBody>
      <dsp:txXfrm>
        <a:off x="0" y="3245106"/>
        <a:ext cx="6620255" cy="2129141"/>
      </dsp:txXfrm>
    </dsp:sp>
    <dsp:sp modelId="{B7B96808-7CA9-444D-BE98-3261FF5683B6}">
      <dsp:nvSpPr>
        <dsp:cNvPr id="0" name=""/>
        <dsp:cNvSpPr/>
      </dsp:nvSpPr>
      <dsp:spPr>
        <a:xfrm rot="10800000">
          <a:off x="0" y="2424"/>
          <a:ext cx="6620255" cy="3274619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Reminder </a:t>
          </a:r>
          <a:endParaRPr lang="en-US" sz="2800" kern="1200"/>
        </a:p>
      </dsp:txBody>
      <dsp:txXfrm rot="10800000">
        <a:off x="0" y="2424"/>
        <a:ext cx="6620255" cy="2127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2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8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8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5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9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1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6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0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2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6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258E8-A323-A95B-1AA0-FB8BC05598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666" b="-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66B3B-0354-1BE0-D44A-0B5AEDAFA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4BCAD-B55F-DDFD-588E-53EF45B05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Section 4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67604-7FDF-B5D6-7342-02B6FF187830}"/>
              </a:ext>
            </a:extLst>
          </p:cNvPr>
          <p:cNvSpPr txBox="1"/>
          <p:nvPr/>
        </p:nvSpPr>
        <p:spPr>
          <a:xfrm>
            <a:off x="8750808" y="6071616"/>
            <a:ext cx="296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TA/Abdelrahman Hanfi</a:t>
            </a:r>
            <a:endParaRPr lang="en-US"/>
          </a:p>
        </p:txBody>
      </p:sp>
      <p:pic>
        <p:nvPicPr>
          <p:cNvPr id="1026" name="Picture 2" descr="Press Kit • Angular">
            <a:extLst>
              <a:ext uri="{FF2B5EF4-FFF2-40B4-BE49-F238E27FC236}">
                <a16:creationId xmlns:a16="http://schemas.microsoft.com/office/drawing/2014/main" id="{C6C29349-03BA-B35A-ABDC-5A6A6AB4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6" y="1587366"/>
            <a:ext cx="9894771" cy="309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832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2F487-D5C2-4ACE-F904-8715A5A9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Angular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FCEF93-B285-865D-3D7E-D2E8D570C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9157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73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11E3-034D-A575-DFDB-65934D54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2098-569D-AFC2-DCCC-335BD64ED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Component-Based:</a:t>
            </a:r>
            <a:r>
              <a:rPr lang="en-US" sz="2800" dirty="0"/>
              <a:t> Applications are built using modular components that combine logic and UI, making code reusable and easier to maintain.</a:t>
            </a:r>
          </a:p>
          <a:p>
            <a:r>
              <a:rPr lang="en-US" sz="2800" b="1" dirty="0"/>
              <a:t>TypeScript-Based:</a:t>
            </a:r>
            <a:r>
              <a:rPr lang="en-US" sz="2800" dirty="0"/>
              <a:t> It utilizes TypeScript, offering strong typing and modern JavaScript features to improve code quality and developer experience.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016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0003-908B-715E-06D8-9E8C401A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2328-8F94-B618-8698-CD37122F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Fully Featured:</a:t>
            </a:r>
            <a:r>
              <a:rPr lang="en-US" sz="2400" dirty="0"/>
              <a:t> It includes built-in tools for routing, form validation, and server communication (HTTP Client).</a:t>
            </a:r>
          </a:p>
          <a:p>
            <a:r>
              <a:rPr lang="en-US" sz="2400" b="1" dirty="0"/>
              <a:t>Two-Way Data Binding:</a:t>
            </a:r>
            <a:r>
              <a:rPr lang="en-US" sz="2400" dirty="0"/>
              <a:t> Automatically synchronizes data between the model (TypeScript) and the view (HTML), reducing manual DOM manipulation.</a:t>
            </a:r>
          </a:p>
          <a:p>
            <a:r>
              <a:rPr lang="en-US" sz="2400" b="1" dirty="0"/>
              <a:t>Dependency Injection:</a:t>
            </a:r>
            <a:r>
              <a:rPr lang="en-US" sz="2400" dirty="0"/>
              <a:t> A powerful feature that manages service dependencies, improving testability and modularity.</a:t>
            </a:r>
          </a:p>
          <a:p>
            <a:r>
              <a:rPr lang="en-US" sz="2400" b="1" dirty="0"/>
              <a:t>Angular CLI:</a:t>
            </a:r>
            <a:r>
              <a:rPr lang="en-US" sz="2400" dirty="0"/>
              <a:t> A powerful command-line interface tool to create projects, add files, and perform ongoing development tasks like testing and deployment. 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562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6CA9-D50B-5F6E-1EE8-B861983D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F6A2-820D-B77F-710A-658D9B9F6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set of pre-written code, libraries, and tools—typically based on JavaScript, HTML, and CSS—used to build user interfaces for web applications more efficiently.</a:t>
            </a:r>
          </a:p>
          <a:p>
            <a:r>
              <a:rPr lang="en-US" sz="2400" dirty="0"/>
              <a:t>They provide a structured, component-based approach to handle dynamic data, state management, and DOM manipulation, speeding up development and ensuring consistency.</a:t>
            </a:r>
          </a:p>
        </p:txBody>
      </p:sp>
    </p:spTree>
    <p:extLst>
      <p:ext uri="{BB962C8B-B14F-4D97-AF65-F5344CB8AC3E}">
        <p14:creationId xmlns:p14="http://schemas.microsoft.com/office/powerpoint/2010/main" val="129773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63B8-159D-CB7F-4C15-E7906633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Feeling lost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8046-1660-118B-CC30-6A8050A2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It’s a bit too late now to be lost </a:t>
            </a:r>
          </a:p>
        </p:txBody>
      </p:sp>
    </p:spTree>
    <p:extLst>
      <p:ext uri="{BB962C8B-B14F-4D97-AF65-F5344CB8AC3E}">
        <p14:creationId xmlns:p14="http://schemas.microsoft.com/office/powerpoint/2010/main" val="10200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1F84-F2FF-4976-B619-377267D0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3D3A-9100-BF30-841C-BDD6844C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Component</a:t>
            </a:r>
            <a:r>
              <a:rPr lang="en-US" sz="2400" dirty="0"/>
              <a:t> should be "lean and mean." It only cares about what the user sees.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Service</a:t>
            </a:r>
            <a:r>
              <a:rPr lang="en-US" sz="2400" dirty="0"/>
              <a:t> is the "worker" that handles the logic and data.</a:t>
            </a:r>
          </a:p>
          <a:p>
            <a:r>
              <a:rPr lang="en-US" sz="2400" b="1" dirty="0"/>
              <a:t>Component:</a:t>
            </a:r>
            <a:r>
              <a:rPr lang="en-US" sz="2400" dirty="0"/>
              <a:t> The Waiter (takes the order, shows the menu).</a:t>
            </a:r>
          </a:p>
          <a:p>
            <a:r>
              <a:rPr lang="en-US" sz="2400" b="1" dirty="0"/>
              <a:t>Service:</a:t>
            </a:r>
            <a:r>
              <a:rPr lang="en-US" sz="2400" dirty="0"/>
              <a:t> The Kitchen (cooks the food, handles the ingredients).</a:t>
            </a:r>
          </a:p>
        </p:txBody>
      </p:sp>
    </p:spTree>
    <p:extLst>
      <p:ext uri="{BB962C8B-B14F-4D97-AF65-F5344CB8AC3E}">
        <p14:creationId xmlns:p14="http://schemas.microsoft.com/office/powerpoint/2010/main" val="388745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E402-03F7-2BE9-3028-ACD0DD61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A1F8-0DDD-E1E0-02E1-9D85288D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51560"/>
          </a:xfrm>
        </p:spPr>
        <p:txBody>
          <a:bodyPr/>
          <a:lstStyle/>
          <a:p>
            <a:r>
              <a:rPr lang="en-US" dirty="0"/>
              <a:t>Let's 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F1E11-DBE1-2925-9DFD-3BE885EE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03120"/>
            <a:ext cx="11155680" cy="4242816"/>
          </a:xfrm>
        </p:spPr>
        <p:txBody>
          <a:bodyPr>
            <a:normAutofit/>
          </a:bodyPr>
          <a:lstStyle/>
          <a:p>
            <a:r>
              <a:rPr lang="en-US" sz="2400" dirty="0"/>
              <a:t>In our previous session, we built </a:t>
            </a:r>
            <a:r>
              <a:rPr lang="en-US" sz="2400" b="1" dirty="0"/>
              <a:t>Components</a:t>
            </a:r>
            <a:r>
              <a:rPr lang="en-US" sz="2400" dirty="0"/>
              <a:t> (the UI) and </a:t>
            </a:r>
            <a:r>
              <a:rPr lang="en-US" sz="2400" b="1" dirty="0"/>
              <a:t>Services</a:t>
            </a:r>
            <a:r>
              <a:rPr lang="en-US" sz="2400" dirty="0"/>
              <a:t> (the logic). Today, we connect them to the world.</a:t>
            </a:r>
          </a:p>
          <a:p>
            <a:r>
              <a:rPr lang="en-US" sz="2400" b="1" dirty="0"/>
              <a:t>The 4 New Power-Ups:</a:t>
            </a:r>
          </a:p>
          <a:p>
            <a:r>
              <a:rPr lang="en-US" sz="2400" b="1" dirty="0"/>
              <a:t>Routing:</a:t>
            </a:r>
            <a:r>
              <a:rPr lang="en-US" sz="2400" dirty="0"/>
              <a:t> Switching views without reloading the browser.</a:t>
            </a:r>
          </a:p>
          <a:p>
            <a:r>
              <a:rPr lang="en-US" sz="2400" b="1" dirty="0"/>
              <a:t>Animations:</a:t>
            </a:r>
            <a:r>
              <a:rPr lang="en-US" sz="2400" dirty="0"/>
              <a:t> Making those switches smooth and professional.</a:t>
            </a:r>
          </a:p>
          <a:p>
            <a:r>
              <a:rPr lang="en-US" sz="2400" b="1" dirty="0"/>
              <a:t>HTTP Client:</a:t>
            </a:r>
            <a:r>
              <a:rPr lang="en-US" sz="2400" dirty="0"/>
              <a:t> Fetching real-time data from the cloud.</a:t>
            </a:r>
          </a:p>
          <a:p>
            <a:r>
              <a:rPr lang="en-US" sz="2400" b="1" dirty="0"/>
              <a:t>Reactive Forms:</a:t>
            </a:r>
            <a:r>
              <a:rPr lang="en-US" sz="2400" dirty="0"/>
              <a:t> Handling user input with industrial-strength validation.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68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4428-1A09-591C-916B-18F1958D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824A-8A1F-E786-844D-9599B2DF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870C-27E8-AA20-EA0F-314ED25A7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03120"/>
            <a:ext cx="11155680" cy="424281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Routing: User visits localhost:4200/</a:t>
            </a:r>
            <a:r>
              <a:rPr lang="en-US" sz="2400" dirty="0" err="1"/>
              <a:t>teams.The</a:t>
            </a:r>
            <a:r>
              <a:rPr lang="en-US" sz="2400" dirty="0"/>
              <a:t> Router loads the </a:t>
            </a:r>
            <a:r>
              <a:rPr lang="en-US" sz="2400" dirty="0" err="1"/>
              <a:t>TeamComponent</a:t>
            </a:r>
            <a:r>
              <a:rPr lang="en-US" sz="2400" dirty="0"/>
              <a:t>.</a:t>
            </a:r>
          </a:p>
          <a:p>
            <a:r>
              <a:rPr lang="en-US" sz="2400" dirty="0"/>
              <a:t>Service: The </a:t>
            </a:r>
            <a:r>
              <a:rPr lang="en-US" sz="2400" dirty="0" err="1"/>
              <a:t>TeamComponent</a:t>
            </a:r>
            <a:r>
              <a:rPr lang="en-US" sz="2400" dirty="0"/>
              <a:t> asks the </a:t>
            </a:r>
            <a:r>
              <a:rPr lang="en-US" sz="2400" dirty="0" err="1"/>
              <a:t>TeamService</a:t>
            </a:r>
            <a:r>
              <a:rPr lang="en-US" sz="2400" dirty="0"/>
              <a:t> for data.</a:t>
            </a:r>
          </a:p>
          <a:p>
            <a:r>
              <a:rPr lang="en-US" sz="2400" dirty="0"/>
              <a:t>HTTP: The </a:t>
            </a:r>
            <a:r>
              <a:rPr lang="en-US" sz="2400" dirty="0" err="1"/>
              <a:t>TeamService</a:t>
            </a:r>
            <a:r>
              <a:rPr lang="en-US" sz="2400" dirty="0"/>
              <a:t> uses the </a:t>
            </a:r>
            <a:r>
              <a:rPr lang="en-US" sz="2400" dirty="0" err="1"/>
              <a:t>HttpClient</a:t>
            </a:r>
            <a:r>
              <a:rPr lang="en-US" sz="2400" dirty="0"/>
              <a:t> to fetch that data from a server.</a:t>
            </a:r>
          </a:p>
          <a:p>
            <a:r>
              <a:rPr lang="en-US" sz="2400" dirty="0"/>
              <a:t>Forms/UI: The data comes back, the Animation fades the list in, and the user uses a Reactive Form to edit a team name.</a:t>
            </a:r>
          </a:p>
        </p:txBody>
      </p:sp>
    </p:spTree>
    <p:extLst>
      <p:ext uri="{BB962C8B-B14F-4D97-AF65-F5344CB8AC3E}">
        <p14:creationId xmlns:p14="http://schemas.microsoft.com/office/powerpoint/2010/main" val="284931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F768-EA22-AC97-2828-FC4968F4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8091-D338-0EDA-2972-89E07257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– The "GPS" of Your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0247-60D6-82E2-33E2-5587984C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709928"/>
            <a:ext cx="11155680" cy="4242816"/>
          </a:xfrm>
        </p:spPr>
        <p:txBody>
          <a:bodyPr>
            <a:normAutofit/>
          </a:bodyPr>
          <a:lstStyle/>
          <a:p>
            <a:r>
              <a:rPr lang="en-US" sz="2400" dirty="0"/>
              <a:t>Angular is a </a:t>
            </a:r>
            <a:r>
              <a:rPr lang="en-US" sz="2400" b="1" dirty="0"/>
              <a:t>Single Page Application (SPA)</a:t>
            </a:r>
            <a:r>
              <a:rPr lang="en-US" sz="2400" dirty="0"/>
              <a:t>. We never leave </a:t>
            </a:r>
            <a:r>
              <a:rPr lang="en-US" dirty="0"/>
              <a:t>index.html</a:t>
            </a:r>
            <a:r>
              <a:rPr lang="en-US" sz="2400" dirty="0"/>
              <a:t>. Instead, the Router swaps components in and out.</a:t>
            </a:r>
          </a:p>
          <a:p>
            <a:r>
              <a:rPr lang="en-US" sz="2400" b="1" dirty="0"/>
              <a:t>The Code (The Map)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2FE2F-C39D-C292-6B5F-5D0826E3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3" y="3125323"/>
            <a:ext cx="9091174" cy="1720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358ED3-F3FE-D713-9A40-2BD339C5A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23" y="5072136"/>
            <a:ext cx="5599128" cy="14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6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FC58-D41D-C236-DD11-D83E57A5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AE87-1F7C-41BD-034E-9F75A78B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Module – The "Data Pipeline"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19B5B-797B-39CD-BEE8-27397719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709928"/>
            <a:ext cx="11155680" cy="4242816"/>
          </a:xfrm>
        </p:spPr>
        <p:txBody>
          <a:bodyPr>
            <a:normAutofit/>
          </a:bodyPr>
          <a:lstStyle/>
          <a:p>
            <a:r>
              <a:rPr lang="en-US" sz="2400" dirty="0"/>
              <a:t>How do we get data from a server at Helwan to our app? We use the </a:t>
            </a:r>
            <a:r>
              <a:rPr lang="en-US" dirty="0" err="1">
                <a:solidFill>
                  <a:srgbClr val="FF0000"/>
                </a:solidFill>
              </a:rPr>
              <a:t>HttpClient</a:t>
            </a:r>
            <a:r>
              <a:rPr lang="en-US" sz="2400" dirty="0"/>
              <a:t>.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EC4A0-5645-5445-7C9C-4FE44A683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41448"/>
            <a:ext cx="8273718" cy="2516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CA168-C065-8F2D-2E5D-31E6FDC8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213852"/>
            <a:ext cx="6577905" cy="12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8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9270-8FD8-AE36-3C51-3AC48657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3C33-36E1-C8BF-B373-02C8E2ADC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Forms – The "Gatekeeper"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5AA0-4B4B-A556-1711-9D5446048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709928"/>
            <a:ext cx="11155680" cy="4242816"/>
          </a:xfrm>
        </p:spPr>
        <p:txBody>
          <a:bodyPr>
            <a:normAutofit/>
          </a:bodyPr>
          <a:lstStyle/>
          <a:p>
            <a:r>
              <a:rPr lang="en-US" sz="2400" dirty="0"/>
              <a:t>We don't trust user input. We validate it first. Reactive forms give us total control in the TypeScript file.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D1299C-55AF-F738-B25B-20C964C1D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71747"/>
            <a:ext cx="8356499" cy="1314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67DB59-2897-2C2C-3A28-571075C32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16552"/>
            <a:ext cx="7099630" cy="212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6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4E20-FED9-AAB1-7FD7-85CB49F5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FA41-1300-B294-067A-EBF4E2AB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Animations – The "Visual Polish"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DACB-98BF-6D3C-F8BA-9374BA6A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709928"/>
            <a:ext cx="11155680" cy="4242816"/>
          </a:xfrm>
        </p:spPr>
        <p:txBody>
          <a:bodyPr>
            <a:normAutofit/>
          </a:bodyPr>
          <a:lstStyle/>
          <a:p>
            <a:r>
              <a:rPr lang="en-US" sz="2400" dirty="0"/>
              <a:t>Animations prevent the app from feeling "robotic."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EEE00-F3E5-EFED-AA92-FF402AD8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33" y="2441447"/>
            <a:ext cx="8739034" cy="2149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C785E9-7E54-53F2-FD43-F50D6E1C3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3" y="4849413"/>
            <a:ext cx="5900175" cy="16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45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C7F9-98B3-3744-1A2D-366DD4DD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do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7827-869A-2FA4-1E94-E4948C349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1. The Data (Service)</a:t>
            </a:r>
          </a:p>
          <a:p>
            <a:r>
              <a:rPr lang="en-US" b="1" dirty="0"/>
              <a:t>Action:</a:t>
            </a:r>
            <a:r>
              <a:rPr lang="en-US" dirty="0"/>
              <a:t> Go get the list of names.</a:t>
            </a:r>
          </a:p>
          <a:p>
            <a:r>
              <a:rPr lang="en-US" b="1" dirty="0"/>
              <a:t>Why:</a:t>
            </a:r>
            <a:r>
              <a:rPr lang="en-US" dirty="0"/>
              <a:t> We keep this in a service so the data is separate from the design. It's the "Source of Truth."</a:t>
            </a:r>
          </a:p>
          <a:p>
            <a:r>
              <a:rPr lang="en-US" b="1" dirty="0"/>
              <a:t>2. The Display (Component + HTML)</a:t>
            </a:r>
          </a:p>
          <a:p>
            <a:r>
              <a:rPr lang="en-US" b="1" dirty="0"/>
              <a:t>Action:</a:t>
            </a:r>
            <a:r>
              <a:rPr lang="en-US" dirty="0"/>
              <a:t> Take the names from the service and show them using a loop (*</a:t>
            </a:r>
            <a:r>
              <a:rPr lang="en-US" dirty="0" err="1"/>
              <a:t>ngFor</a:t>
            </a:r>
            <a:r>
              <a:rPr lang="en-US" dirty="0"/>
              <a:t>).</a:t>
            </a:r>
          </a:p>
          <a:p>
            <a:r>
              <a:rPr lang="en-US" b="1" dirty="0"/>
              <a:t>Why:</a:t>
            </a:r>
            <a:r>
              <a:rPr lang="en-US" dirty="0"/>
              <a:t> This turns raw data (JSON) into something students can actually read on a screen.</a:t>
            </a:r>
          </a:p>
          <a:p>
            <a:r>
              <a:rPr lang="en-US" b="1" dirty="0"/>
              <a:t>3. The Interaction (Forms + Validation)</a:t>
            </a:r>
          </a:p>
          <a:p>
            <a:r>
              <a:rPr lang="en-US" b="1" dirty="0"/>
              <a:t>Action:</a:t>
            </a:r>
            <a:r>
              <a:rPr lang="en-US" dirty="0"/>
              <a:t> Add an input box where we can type a new name.</a:t>
            </a:r>
          </a:p>
          <a:p>
            <a:r>
              <a:rPr lang="en-US" b="1" dirty="0"/>
              <a:t>Why:</a:t>
            </a:r>
            <a:r>
              <a:rPr lang="en-US" dirty="0"/>
              <a:t> We add "Rules" (Validators) so they can't add an empty name. It teaches them how to control user input.</a:t>
            </a:r>
          </a:p>
          <a:p>
            <a:r>
              <a:rPr lang="en-US" b="1" dirty="0"/>
              <a:t>4. The Experience (Animations + Routing)</a:t>
            </a:r>
          </a:p>
          <a:p>
            <a:r>
              <a:rPr lang="en-US" b="1" dirty="0"/>
              <a:t>Action:</a:t>
            </a:r>
            <a:r>
              <a:rPr lang="en-US" dirty="0"/>
              <a:t> Make names "slide in" (Animations) and allow clicking a name to see a profile (Routing).</a:t>
            </a:r>
          </a:p>
          <a:p>
            <a:r>
              <a:rPr lang="en-US" b="1" dirty="0"/>
              <a:t>Why:</a:t>
            </a:r>
            <a:r>
              <a:rPr lang="en-US" dirty="0"/>
              <a:t> This makes the website feel like a professional </a:t>
            </a:r>
            <a:r>
              <a:rPr lang="en-US" b="1" dirty="0"/>
              <a:t>App</a:t>
            </a:r>
            <a:r>
              <a:rPr lang="en-US" dirty="0"/>
              <a:t>, not just a static document. It’s about the "Feel" and the "Flow."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041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9ED3-3D90-4861-3985-0C26A9B6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9A894E-0013-250B-26C4-E3B9F012B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1962896"/>
            <a:ext cx="10186416" cy="409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Here is how all 6 concepts (old and new) work together in a single action:</a:t>
            </a:r>
          </a:p>
          <a:p>
            <a:r>
              <a:rPr lang="en-US" sz="2400" b="1" dirty="0"/>
              <a:t>Routing:</a:t>
            </a:r>
            <a:r>
              <a:rPr lang="en-US" sz="2400" dirty="0"/>
              <a:t> User clicks "View Team." URL changes to </a:t>
            </a:r>
            <a:r>
              <a:rPr lang="en-US" dirty="0">
                <a:solidFill>
                  <a:srgbClr val="FF0000"/>
                </a:solidFill>
              </a:rPr>
              <a:t>/details/5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r>
              <a:rPr lang="en-US" sz="2400" b="1" dirty="0"/>
              <a:t>Component:</a:t>
            </a:r>
            <a:r>
              <a:rPr lang="en-US" sz="2400" dirty="0"/>
              <a:t> </a:t>
            </a:r>
            <a:r>
              <a:rPr lang="en-US" dirty="0" err="1">
                <a:solidFill>
                  <a:srgbClr val="FF0000"/>
                </a:solidFill>
              </a:rPr>
              <a:t>DetailComponent</a:t>
            </a:r>
            <a:r>
              <a:rPr lang="en-US" sz="2400" dirty="0"/>
              <a:t> is loaded into the </a:t>
            </a:r>
            <a:r>
              <a:rPr lang="en-US" dirty="0"/>
              <a:t>router-outlet</a:t>
            </a:r>
            <a:r>
              <a:rPr lang="en-US" sz="2400" dirty="0"/>
              <a:t>.</a:t>
            </a:r>
          </a:p>
          <a:p>
            <a:r>
              <a:rPr lang="en-US" sz="2400" b="1" dirty="0"/>
              <a:t>Animation:</a:t>
            </a:r>
            <a:r>
              <a:rPr lang="en-US" sz="2400" dirty="0"/>
              <a:t> The page fades in smoothly.</a:t>
            </a:r>
          </a:p>
          <a:p>
            <a:r>
              <a:rPr lang="en-US" sz="2400" b="1" dirty="0"/>
              <a:t>Service:</a:t>
            </a:r>
            <a:r>
              <a:rPr lang="en-US" sz="2400" dirty="0"/>
              <a:t> The component asks the </a:t>
            </a:r>
            <a:r>
              <a:rPr lang="en-US" dirty="0" err="1">
                <a:solidFill>
                  <a:srgbClr val="FF0000"/>
                </a:solidFill>
              </a:rPr>
              <a:t>TeamService</a:t>
            </a:r>
            <a:r>
              <a:rPr lang="en-US" sz="2400" dirty="0"/>
              <a:t> for data for ID #5.</a:t>
            </a:r>
          </a:p>
          <a:p>
            <a:r>
              <a:rPr lang="en-US" sz="2400" b="1" dirty="0"/>
              <a:t>HTTP:</a:t>
            </a:r>
            <a:r>
              <a:rPr lang="en-US" sz="2400" dirty="0"/>
              <a:t> The Service calls the API and returns the team data.</a:t>
            </a:r>
          </a:p>
          <a:p>
            <a:r>
              <a:rPr lang="en-US" sz="2400" b="1" dirty="0"/>
              <a:t>Forms:</a:t>
            </a:r>
            <a:r>
              <a:rPr lang="en-US" sz="2400" dirty="0"/>
              <a:t> The user sees the data in a </a:t>
            </a:r>
            <a:r>
              <a:rPr lang="en-US" sz="2400" b="1" dirty="0">
                <a:solidFill>
                  <a:srgbClr val="FF0000"/>
                </a:solidFill>
              </a:rPr>
              <a:t>Reactive Form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and edits the team name.</a:t>
            </a:r>
          </a:p>
        </p:txBody>
      </p:sp>
    </p:spTree>
    <p:extLst>
      <p:ext uri="{BB962C8B-B14F-4D97-AF65-F5344CB8AC3E}">
        <p14:creationId xmlns:p14="http://schemas.microsoft.com/office/powerpoint/2010/main" val="78955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E4A8-7A81-12A6-3717-2FFAB270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0DE2E5-3A97-CF5B-9014-D9E4641B0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2501208"/>
            <a:ext cx="957072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"Clear" button to your Reactive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button should only be clickable if the form has text in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"Success" animation when the HTTP request finishes.</a:t>
            </a:r>
          </a:p>
        </p:txBody>
      </p:sp>
    </p:spTree>
    <p:extLst>
      <p:ext uri="{BB962C8B-B14F-4D97-AF65-F5344CB8AC3E}">
        <p14:creationId xmlns:p14="http://schemas.microsoft.com/office/powerpoint/2010/main" val="286040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A3D8F-476F-AE22-35A4-32C0ED8F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888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Bierstadt</vt:lpstr>
      <vt:lpstr>GestaltVTI</vt:lpstr>
      <vt:lpstr>Angular</vt:lpstr>
      <vt:lpstr>Angular </vt:lpstr>
      <vt:lpstr>Angular</vt:lpstr>
      <vt:lpstr>Angular</vt:lpstr>
      <vt:lpstr>A Framework</vt:lpstr>
      <vt:lpstr>Feeling lost ?</vt:lpstr>
      <vt:lpstr>Let's brainstorm</vt:lpstr>
      <vt:lpstr>Let's brainstorm</vt:lpstr>
      <vt:lpstr>Let's brainstorm</vt:lpstr>
      <vt:lpstr>Routing – The "GPS" of Your App</vt:lpstr>
      <vt:lpstr>HTTP Module – The "Data Pipeline"</vt:lpstr>
      <vt:lpstr>Reactive Forms – The "Gatekeeper"</vt:lpstr>
      <vt:lpstr>Animations – The "Visual Polish"</vt:lpstr>
      <vt:lpstr>What did we do ?</vt:lpstr>
      <vt:lpstr>Summary</vt:lpstr>
      <vt:lpstr>Try to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 Clone</dc:creator>
  <cp:lastModifiedBy>Blu Clone</cp:lastModifiedBy>
  <cp:revision>25</cp:revision>
  <dcterms:created xsi:type="dcterms:W3CDTF">2026-03-16T00:52:59Z</dcterms:created>
  <dcterms:modified xsi:type="dcterms:W3CDTF">2026-04-20T01:45:09Z</dcterms:modified>
</cp:coreProperties>
</file>