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71" r:id="rId11"/>
    <p:sldId id="264" r:id="rId12"/>
    <p:sldId id="272" r:id="rId13"/>
    <p:sldId id="273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467AD8-7EEC-4B04-BCC3-8CF2E9F75474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3E75C6-E257-42B8-9058-CF478B6D0105}">
      <dgm:prSet/>
      <dgm:spPr/>
      <dgm:t>
        <a:bodyPr/>
        <a:lstStyle/>
        <a:p>
          <a:r>
            <a:rPr lang="en-US" b="1"/>
            <a:t>Reminder </a:t>
          </a:r>
          <a:endParaRPr lang="en-US"/>
        </a:p>
      </dgm:t>
    </dgm:pt>
    <dgm:pt modelId="{F1C79C5C-049D-4AC8-8415-BEF1F22960D1}" type="parTrans" cxnId="{595B42B7-A1C9-4FD4-9D43-65700CC0A6F2}">
      <dgm:prSet/>
      <dgm:spPr/>
      <dgm:t>
        <a:bodyPr/>
        <a:lstStyle/>
        <a:p>
          <a:endParaRPr lang="en-US"/>
        </a:p>
      </dgm:t>
    </dgm:pt>
    <dgm:pt modelId="{49140365-404B-4D3B-B299-C97233AF2D4A}" type="sibTrans" cxnId="{595B42B7-A1C9-4FD4-9D43-65700CC0A6F2}">
      <dgm:prSet/>
      <dgm:spPr/>
      <dgm:t>
        <a:bodyPr/>
        <a:lstStyle/>
        <a:p>
          <a:endParaRPr lang="en-US"/>
        </a:p>
      </dgm:t>
    </dgm:pt>
    <dgm:pt modelId="{E0C680E6-9AD8-4E9F-A150-4B598626A59C}">
      <dgm:prSet/>
      <dgm:spPr/>
      <dgm:t>
        <a:bodyPr/>
        <a:lstStyle/>
        <a:p>
          <a:r>
            <a:rPr lang="en-US"/>
            <a:t>a popular, open-source, TypeScript-based frontend web framework developed by Google for building fast, scalable single-page applications (SPAs)</a:t>
          </a:r>
        </a:p>
      </dgm:t>
    </dgm:pt>
    <dgm:pt modelId="{0EE15881-6BC3-4E57-B3CF-702A0E777CA1}" type="parTrans" cxnId="{45C11810-5D83-4810-9725-3D5CAE082697}">
      <dgm:prSet/>
      <dgm:spPr/>
      <dgm:t>
        <a:bodyPr/>
        <a:lstStyle/>
        <a:p>
          <a:endParaRPr lang="en-US"/>
        </a:p>
      </dgm:t>
    </dgm:pt>
    <dgm:pt modelId="{48118719-A8DC-42EE-9C2B-0CAF0C1894A8}" type="sibTrans" cxnId="{45C11810-5D83-4810-9725-3D5CAE082697}">
      <dgm:prSet/>
      <dgm:spPr/>
      <dgm:t>
        <a:bodyPr/>
        <a:lstStyle/>
        <a:p>
          <a:endParaRPr lang="en-US"/>
        </a:p>
      </dgm:t>
    </dgm:pt>
    <dgm:pt modelId="{6A89B743-FBD8-46E5-B335-63B50A5E4564}" type="pres">
      <dgm:prSet presAssocID="{94467AD8-7EEC-4B04-BCC3-8CF2E9F75474}" presName="Name0" presStyleCnt="0">
        <dgm:presLayoutVars>
          <dgm:dir/>
          <dgm:animLvl val="lvl"/>
          <dgm:resizeHandles val="exact"/>
        </dgm:presLayoutVars>
      </dgm:prSet>
      <dgm:spPr/>
    </dgm:pt>
    <dgm:pt modelId="{9D673681-A787-43EF-9095-1675EF1FEF93}" type="pres">
      <dgm:prSet presAssocID="{E0C680E6-9AD8-4E9F-A150-4B598626A59C}" presName="boxAndChildren" presStyleCnt="0"/>
      <dgm:spPr/>
    </dgm:pt>
    <dgm:pt modelId="{75D7DF6F-E328-43A8-AF76-90AFCB17FD12}" type="pres">
      <dgm:prSet presAssocID="{E0C680E6-9AD8-4E9F-A150-4B598626A59C}" presName="parentTextBox" presStyleLbl="node1" presStyleIdx="0" presStyleCnt="2"/>
      <dgm:spPr/>
    </dgm:pt>
    <dgm:pt modelId="{27F7C26D-91C3-464D-86B1-E034EE45387F}" type="pres">
      <dgm:prSet presAssocID="{49140365-404B-4D3B-B299-C97233AF2D4A}" presName="sp" presStyleCnt="0"/>
      <dgm:spPr/>
    </dgm:pt>
    <dgm:pt modelId="{6B64A87F-4917-44F4-866B-BCBA0470D97D}" type="pres">
      <dgm:prSet presAssocID="{1F3E75C6-E257-42B8-9058-CF478B6D0105}" presName="arrowAndChildren" presStyleCnt="0"/>
      <dgm:spPr/>
    </dgm:pt>
    <dgm:pt modelId="{B7B96808-7CA9-444D-BE98-3261FF5683B6}" type="pres">
      <dgm:prSet presAssocID="{1F3E75C6-E257-42B8-9058-CF478B6D0105}" presName="parentTextArrow" presStyleLbl="node1" presStyleIdx="1" presStyleCnt="2"/>
      <dgm:spPr/>
    </dgm:pt>
  </dgm:ptLst>
  <dgm:cxnLst>
    <dgm:cxn modelId="{45C11810-5D83-4810-9725-3D5CAE082697}" srcId="{94467AD8-7EEC-4B04-BCC3-8CF2E9F75474}" destId="{E0C680E6-9AD8-4E9F-A150-4B598626A59C}" srcOrd="1" destOrd="0" parTransId="{0EE15881-6BC3-4E57-B3CF-702A0E777CA1}" sibTransId="{48118719-A8DC-42EE-9C2B-0CAF0C1894A8}"/>
    <dgm:cxn modelId="{6064A038-E617-4323-909B-5AF21F63DD21}" type="presOf" srcId="{1F3E75C6-E257-42B8-9058-CF478B6D0105}" destId="{B7B96808-7CA9-444D-BE98-3261FF5683B6}" srcOrd="0" destOrd="0" presId="urn:microsoft.com/office/officeart/2005/8/layout/process4"/>
    <dgm:cxn modelId="{1D356C39-0B57-47E3-A7DD-69361F7BC208}" type="presOf" srcId="{E0C680E6-9AD8-4E9F-A150-4B598626A59C}" destId="{75D7DF6F-E328-43A8-AF76-90AFCB17FD12}" srcOrd="0" destOrd="0" presId="urn:microsoft.com/office/officeart/2005/8/layout/process4"/>
    <dgm:cxn modelId="{595B42B7-A1C9-4FD4-9D43-65700CC0A6F2}" srcId="{94467AD8-7EEC-4B04-BCC3-8CF2E9F75474}" destId="{1F3E75C6-E257-42B8-9058-CF478B6D0105}" srcOrd="0" destOrd="0" parTransId="{F1C79C5C-049D-4AC8-8415-BEF1F22960D1}" sibTransId="{49140365-404B-4D3B-B299-C97233AF2D4A}"/>
    <dgm:cxn modelId="{AFEE7CBC-193B-4D09-B3E7-6993C526C4FA}" type="presOf" srcId="{94467AD8-7EEC-4B04-BCC3-8CF2E9F75474}" destId="{6A89B743-FBD8-46E5-B335-63B50A5E4564}" srcOrd="0" destOrd="0" presId="urn:microsoft.com/office/officeart/2005/8/layout/process4"/>
    <dgm:cxn modelId="{4DA2B745-E593-4577-9E70-FDF3860738CD}" type="presParOf" srcId="{6A89B743-FBD8-46E5-B335-63B50A5E4564}" destId="{9D673681-A787-43EF-9095-1675EF1FEF93}" srcOrd="0" destOrd="0" presId="urn:microsoft.com/office/officeart/2005/8/layout/process4"/>
    <dgm:cxn modelId="{5F07083B-8566-4C33-A1DF-37AA5E575445}" type="presParOf" srcId="{9D673681-A787-43EF-9095-1675EF1FEF93}" destId="{75D7DF6F-E328-43A8-AF76-90AFCB17FD12}" srcOrd="0" destOrd="0" presId="urn:microsoft.com/office/officeart/2005/8/layout/process4"/>
    <dgm:cxn modelId="{CB08D5C4-7804-4070-B76A-20730F3276AD}" type="presParOf" srcId="{6A89B743-FBD8-46E5-B335-63B50A5E4564}" destId="{27F7C26D-91C3-464D-86B1-E034EE45387F}" srcOrd="1" destOrd="0" presId="urn:microsoft.com/office/officeart/2005/8/layout/process4"/>
    <dgm:cxn modelId="{AC3A4CA2-2C02-4DB7-A41E-EE64293EA860}" type="presParOf" srcId="{6A89B743-FBD8-46E5-B335-63B50A5E4564}" destId="{6B64A87F-4917-44F4-866B-BCBA0470D97D}" srcOrd="2" destOrd="0" presId="urn:microsoft.com/office/officeart/2005/8/layout/process4"/>
    <dgm:cxn modelId="{0F7A7032-4682-4091-A832-6E21BFBA1644}" type="presParOf" srcId="{6B64A87F-4917-44F4-866B-BCBA0470D97D}" destId="{B7B96808-7CA9-444D-BE98-3261FF5683B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7DF6F-E328-43A8-AF76-90AFCB17FD12}">
      <dsp:nvSpPr>
        <dsp:cNvPr id="0" name=""/>
        <dsp:cNvSpPr/>
      </dsp:nvSpPr>
      <dsp:spPr>
        <a:xfrm>
          <a:off x="0" y="3245106"/>
          <a:ext cx="6620255" cy="21291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 popular, open-source, TypeScript-based frontend web framework developed by Google for building fast, scalable single-page applications (SPAs)</a:t>
          </a:r>
        </a:p>
      </dsp:txBody>
      <dsp:txXfrm>
        <a:off x="0" y="3245106"/>
        <a:ext cx="6620255" cy="2129141"/>
      </dsp:txXfrm>
    </dsp:sp>
    <dsp:sp modelId="{B7B96808-7CA9-444D-BE98-3261FF5683B6}">
      <dsp:nvSpPr>
        <dsp:cNvPr id="0" name=""/>
        <dsp:cNvSpPr/>
      </dsp:nvSpPr>
      <dsp:spPr>
        <a:xfrm rot="10800000">
          <a:off x="0" y="2424"/>
          <a:ext cx="6620255" cy="3274619"/>
        </a:xfrm>
        <a:prstGeom prst="upArrowCallou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Reminder </a:t>
          </a:r>
          <a:endParaRPr lang="en-US" sz="2800" kern="1200"/>
        </a:p>
      </dsp:txBody>
      <dsp:txXfrm rot="10800000">
        <a:off x="0" y="2424"/>
        <a:ext cx="6620255" cy="2127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2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8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8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5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9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1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6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0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2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6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258E8-A323-A95B-1AA0-FB8BC05598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0666" b="-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66B3B-0354-1BE0-D44A-0B5AEDAFA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Angular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4BCAD-B55F-DDFD-588E-53EF45B05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i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Section 3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67604-7FDF-B5D6-7342-02B6FF187830}"/>
              </a:ext>
            </a:extLst>
          </p:cNvPr>
          <p:cNvSpPr txBox="1"/>
          <p:nvPr/>
        </p:nvSpPr>
        <p:spPr>
          <a:xfrm>
            <a:off x="8750808" y="6071616"/>
            <a:ext cx="296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TA/Abdelrahman Hanfi</a:t>
            </a:r>
            <a:endParaRPr lang="en-US"/>
          </a:p>
        </p:txBody>
      </p:sp>
      <p:pic>
        <p:nvPicPr>
          <p:cNvPr id="1026" name="Picture 2" descr="Press Kit • Angular">
            <a:extLst>
              <a:ext uri="{FF2B5EF4-FFF2-40B4-BE49-F238E27FC236}">
                <a16:creationId xmlns:a16="http://schemas.microsoft.com/office/drawing/2014/main" id="{C6C29349-03BA-B35A-ABDC-5A6A6AB4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16" y="1587366"/>
            <a:ext cx="9894771" cy="3092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832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2F487-D5C2-4ACE-F904-8715A5A9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Angular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FCEF93-B285-865D-3D7E-D2E8D570C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99157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573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011E3-034D-A575-DFDB-65934D54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92098-569D-AFC2-DCCC-335BD64ED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Component-Based:</a:t>
            </a:r>
            <a:r>
              <a:rPr lang="en-US" sz="2800" dirty="0"/>
              <a:t> Applications are built using modular components that combine logic and UI, making code reusable and easier to maintain.</a:t>
            </a:r>
          </a:p>
          <a:p>
            <a:r>
              <a:rPr lang="en-US" sz="2800" b="1" dirty="0"/>
              <a:t>TypeScript-Based:</a:t>
            </a:r>
            <a:r>
              <a:rPr lang="en-US" sz="2800" dirty="0"/>
              <a:t> It utilizes TypeScript, offering strong typing and modern JavaScript features to improve code quality and developer experience.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0016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0003-908B-715E-06D8-9E8C401A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D2328-8F94-B618-8698-CD37122F6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Fully Featured:</a:t>
            </a:r>
            <a:r>
              <a:rPr lang="en-US" sz="2400" dirty="0"/>
              <a:t> It includes built-in tools for routing, form validation, and server communication (HTTP Client).</a:t>
            </a:r>
          </a:p>
          <a:p>
            <a:r>
              <a:rPr lang="en-US" sz="2400" b="1" dirty="0"/>
              <a:t>Two-Way Data Binding:</a:t>
            </a:r>
            <a:r>
              <a:rPr lang="en-US" sz="2400" dirty="0"/>
              <a:t> Automatically synchronizes data between the model (TypeScript) and the view (HTML), reducing manual DOM manipulation.</a:t>
            </a:r>
          </a:p>
          <a:p>
            <a:r>
              <a:rPr lang="en-US" sz="2400" b="1" dirty="0"/>
              <a:t>Dependency Injection:</a:t>
            </a:r>
            <a:r>
              <a:rPr lang="en-US" sz="2400" dirty="0"/>
              <a:t> A powerful feature that manages service dependencies, improving testability and modularity.</a:t>
            </a:r>
          </a:p>
          <a:p>
            <a:r>
              <a:rPr lang="en-US" sz="2400" b="1" dirty="0"/>
              <a:t>Angular CLI:</a:t>
            </a:r>
            <a:r>
              <a:rPr lang="en-US" sz="2400" dirty="0"/>
              <a:t> A powerful command-line interface tool to create projects, add files, and perform ongoing development tasks like testing and deployment. 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85621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6CA9-D50B-5F6E-1EE8-B861983D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1F6A2-820D-B77F-710A-658D9B9F6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set of pre-written code, libraries, and tools—typically based on JavaScript, HTML, and CSS—used to build user interfaces for web applications more efficiently.</a:t>
            </a:r>
          </a:p>
          <a:p>
            <a:r>
              <a:rPr lang="en-US" sz="2400" dirty="0"/>
              <a:t>They provide a structured, component-based approach to handle dynamic data, state management, and DOM manipulation, speeding up development and ensuring consistency.</a:t>
            </a:r>
          </a:p>
        </p:txBody>
      </p:sp>
    </p:spTree>
    <p:extLst>
      <p:ext uri="{BB962C8B-B14F-4D97-AF65-F5344CB8AC3E}">
        <p14:creationId xmlns:p14="http://schemas.microsoft.com/office/powerpoint/2010/main" val="129773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63B8-159D-CB7F-4C15-E7906633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Feeling lost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68046-1660-118B-CC30-6A8050A2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is completely normal to feel lost with Angular at first! It is a "heavy" framework because it does a lot for you, but that means there are many moving parts to learn.</a:t>
            </a:r>
          </a:p>
          <a:p>
            <a:endParaRPr lang="en-US" sz="2400" dirty="0"/>
          </a:p>
          <a:p>
            <a:r>
              <a:rPr lang="en-US" sz="2400" dirty="0"/>
              <a:t>Think of Angular as a </a:t>
            </a:r>
            <a:r>
              <a:rPr lang="en-US" sz="2400" b="1" dirty="0"/>
              <a:t>Construction Set</a:t>
            </a:r>
            <a:r>
              <a:rPr lang="en-US" sz="2400" dirty="0"/>
              <a:t>. Instead of writing one giant, messy HTML file, you build small, organized "bricks" (Components) and "tools" (Services).</a:t>
            </a:r>
          </a:p>
        </p:txBody>
      </p:sp>
    </p:spTree>
    <p:extLst>
      <p:ext uri="{BB962C8B-B14F-4D97-AF65-F5344CB8AC3E}">
        <p14:creationId xmlns:p14="http://schemas.microsoft.com/office/powerpoint/2010/main" val="10200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1F84-F2FF-4976-B619-377267D0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is a Component? (The "Brick")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3D3A-9100-BF30-841C-BDD6844C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 component is a single piece of your website (like a Navbar, a Login Box, or a Profile Card).</a:t>
            </a:r>
          </a:p>
          <a:p>
            <a:r>
              <a:rPr lang="en-US" sz="2400" dirty="0"/>
              <a:t>Every component is made of three files working together:</a:t>
            </a:r>
          </a:p>
          <a:p>
            <a:r>
              <a:rPr lang="en-US" sz="2400" b="1" dirty="0"/>
              <a:t>The HTML (.html)</a:t>
            </a:r>
            <a:r>
              <a:rPr lang="en-US" sz="2400" dirty="0"/>
              <a:t>: The "Skeleton." This defines what is on the screen (buttons, text).</a:t>
            </a:r>
          </a:p>
          <a:p>
            <a:r>
              <a:rPr lang="en-US" sz="2400" b="1" dirty="0"/>
              <a:t>The CSS (.</a:t>
            </a:r>
            <a:r>
              <a:rPr lang="en-US" sz="2400" b="1" dirty="0" err="1"/>
              <a:t>css</a:t>
            </a:r>
            <a:r>
              <a:rPr lang="en-US" sz="2400" b="1" dirty="0"/>
              <a:t>)</a:t>
            </a:r>
            <a:r>
              <a:rPr lang="en-US" sz="2400" dirty="0"/>
              <a:t>: The "Clothes." This makes it look good.</a:t>
            </a:r>
          </a:p>
          <a:p>
            <a:r>
              <a:rPr lang="en-US" sz="2400" b="1" dirty="0"/>
              <a:t>The TypeScript (.</a:t>
            </a:r>
            <a:r>
              <a:rPr lang="en-US" sz="2400" b="1" dirty="0" err="1"/>
              <a:t>ts</a:t>
            </a:r>
            <a:r>
              <a:rPr lang="en-US" sz="2400" b="1" dirty="0"/>
              <a:t>)</a:t>
            </a:r>
            <a:r>
              <a:rPr lang="en-US" sz="2400" dirty="0"/>
              <a:t>: The "Brain." This is where you write the logic (what happens when a button is clicked).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8745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40A7-43EC-5349-F542-4322A274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7020-30B2-32BD-FBCB-2553D008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is a Component? (The "Brick")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CE4F801-42FE-CD3D-705C-35A9935D5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700" y="2687714"/>
            <a:ext cx="11156950" cy="354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254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AD6F-811A-45EB-237A-815686FA1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What is a Service? (The "Utility")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14A66-0019-87B2-6D9C-1E330285F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Imagine you have 10 different components. All of them need to know the name of the user who is logged in.</a:t>
            </a:r>
          </a:p>
          <a:p>
            <a:r>
              <a:rPr lang="en-US" sz="2400" b="1" dirty="0"/>
              <a:t>The wrong way:</a:t>
            </a:r>
            <a:r>
              <a:rPr lang="en-US" sz="2400" dirty="0"/>
              <a:t> Writing login logic inside all 10 components.</a:t>
            </a:r>
          </a:p>
          <a:p>
            <a:r>
              <a:rPr lang="en-US" sz="2400" b="1" dirty="0"/>
              <a:t>The Angular way:</a:t>
            </a:r>
            <a:r>
              <a:rPr lang="en-US" sz="2400" dirty="0"/>
              <a:t> Create </a:t>
            </a:r>
            <a:r>
              <a:rPr lang="en-US" sz="2400" b="1" dirty="0"/>
              <a:t>one Service</a:t>
            </a:r>
            <a:r>
              <a:rPr lang="en-US" sz="2400" dirty="0"/>
              <a:t>.</a:t>
            </a:r>
          </a:p>
          <a:p>
            <a:r>
              <a:rPr lang="en-US" sz="2400" dirty="0"/>
              <a:t>A Service is a "Global Data Hub." It stays in the background and holds data or functions that any component can "call" and use. It keeps your components from getting "cluttered."</a:t>
            </a:r>
          </a:p>
        </p:txBody>
      </p:sp>
    </p:spTree>
    <p:extLst>
      <p:ext uri="{BB962C8B-B14F-4D97-AF65-F5344CB8AC3E}">
        <p14:creationId xmlns:p14="http://schemas.microsoft.com/office/powerpoint/2010/main" val="1018949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B1A4-8C0C-53F1-415E-60BB9287B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BF75-6164-A891-00EE-30CB0F0C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What is a Service? (The "Utility")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CEB2BC-5B4F-E5EE-3B27-251F9D1E4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794" y="1922317"/>
            <a:ext cx="9187214" cy="451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25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10BB-7827-1A13-57B9-33ED2C70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How do they talk? (Data Binding &amp; Signals)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E4CE-3CF3-E152-EFC7-1015839CA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your code, you saw signal('section3'). Think of a </a:t>
            </a:r>
            <a:r>
              <a:rPr lang="en-US" sz="2400" b="1" dirty="0"/>
              <a:t>Signal</a:t>
            </a:r>
            <a:r>
              <a:rPr lang="en-US" sz="2400" dirty="0"/>
              <a:t> like a </a:t>
            </a:r>
            <a:r>
              <a:rPr lang="en-US" sz="2400" b="1" dirty="0"/>
              <a:t>Live Notification</a:t>
            </a:r>
            <a:r>
              <a:rPr lang="en-US" sz="2400" dirty="0"/>
              <a:t>.</a:t>
            </a:r>
          </a:p>
          <a:p>
            <a:r>
              <a:rPr lang="en-US" sz="2400" b="1" dirty="0"/>
              <a:t>In the Brain (.</a:t>
            </a:r>
            <a:r>
              <a:rPr lang="en-US" sz="2400" b="1" dirty="0" err="1"/>
              <a:t>ts</a:t>
            </a:r>
            <a:r>
              <a:rPr lang="en-US" sz="2400" b="1" dirty="0"/>
              <a:t>)</a:t>
            </a:r>
            <a:r>
              <a:rPr lang="en-US" sz="2400" dirty="0"/>
              <a:t>: You define a signal: count = signal(0).</a:t>
            </a:r>
          </a:p>
          <a:p>
            <a:r>
              <a:rPr lang="en-US" sz="2400" b="1" dirty="0"/>
              <a:t>In the Skeleton (.html)</a:t>
            </a:r>
            <a:r>
              <a:rPr lang="en-US" sz="2400" dirty="0"/>
              <a:t>: You display it: {{ count() }}.</a:t>
            </a:r>
          </a:p>
          <a:p>
            <a:r>
              <a:rPr lang="en-US" sz="2400" b="1" dirty="0"/>
              <a:t>The Magic</a:t>
            </a:r>
            <a:r>
              <a:rPr lang="en-US" sz="2400" dirty="0"/>
              <a:t>: The moment you change that number in the brain, the skeleton updates </a:t>
            </a:r>
            <a:r>
              <a:rPr lang="en-US" sz="2400" b="1" dirty="0"/>
              <a:t>instantly</a:t>
            </a:r>
            <a:r>
              <a:rPr lang="en-US" sz="2400" dirty="0"/>
              <a:t> without refreshing the page.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0268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5E345-AC91-05C5-EB71-880C68D4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824D2-0EDF-CD74-84A7-B0F61BB5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How do they talk? (Data Binding &amp; Signals)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F4843-DB59-9940-4F8F-31BEC37F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your code, you saw signal('section3'). Think of a </a:t>
            </a:r>
            <a:r>
              <a:rPr lang="en-US" sz="2400" b="1" dirty="0"/>
              <a:t>Signal</a:t>
            </a:r>
            <a:r>
              <a:rPr lang="en-US" sz="2400" dirty="0"/>
              <a:t> like a </a:t>
            </a:r>
            <a:r>
              <a:rPr lang="en-US" sz="2400" b="1" dirty="0"/>
              <a:t>Live Notification</a:t>
            </a:r>
            <a:r>
              <a:rPr lang="en-US" sz="2400" dirty="0"/>
              <a:t>.</a:t>
            </a:r>
          </a:p>
          <a:p>
            <a:r>
              <a:rPr lang="en-US" sz="2400" b="1" dirty="0"/>
              <a:t>In the Brain (.</a:t>
            </a:r>
            <a:r>
              <a:rPr lang="en-US" sz="2400" b="1" dirty="0" err="1"/>
              <a:t>ts</a:t>
            </a:r>
            <a:r>
              <a:rPr lang="en-US" sz="2400" b="1" dirty="0"/>
              <a:t>)</a:t>
            </a:r>
            <a:r>
              <a:rPr lang="en-US" sz="2400" dirty="0"/>
              <a:t>: You define a signal: count = signal(0).</a:t>
            </a:r>
          </a:p>
          <a:p>
            <a:r>
              <a:rPr lang="en-US" sz="2400" b="1" dirty="0"/>
              <a:t>In the Skeleton (.html)</a:t>
            </a:r>
            <a:r>
              <a:rPr lang="en-US" sz="2400" dirty="0"/>
              <a:t>: You display it: {{ count() }}.</a:t>
            </a:r>
          </a:p>
          <a:p>
            <a:r>
              <a:rPr lang="en-US" sz="2400" b="1" dirty="0"/>
              <a:t>The Magic</a:t>
            </a:r>
            <a:r>
              <a:rPr lang="en-US" sz="2400" dirty="0"/>
              <a:t>: The moment you change that number in the brain, the skeleton updates </a:t>
            </a:r>
            <a:r>
              <a:rPr lang="en-US" sz="2400" b="1" dirty="0"/>
              <a:t>instantly</a:t>
            </a:r>
            <a:r>
              <a:rPr lang="en-US" sz="2400" dirty="0"/>
              <a:t> without refreshing the page.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7357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7AD6-390C-1166-C659-3783FCF1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6D52-7345-8394-5422-870B3BE4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How do they talk? (Data Binding &amp; Signals)</a:t>
            </a:r>
            <a:br>
              <a:rPr lang="en-US" dirty="0"/>
            </a:br>
            <a:endParaRPr lang="en-US" dirty="0"/>
          </a:p>
        </p:txBody>
      </p:sp>
      <p:pic>
        <p:nvPicPr>
          <p:cNvPr id="5122" name="Picture 2" descr="What's new in Angular 16? - Signals, Hydration, esbuild and More! -  ANGULARarchitects">
            <a:extLst>
              <a:ext uri="{FF2B5EF4-FFF2-40B4-BE49-F238E27FC236}">
                <a16:creationId xmlns:a16="http://schemas.microsoft.com/office/drawing/2014/main" id="{35078A13-C6C4-7A2F-57AE-3517F7F907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877" y="2300437"/>
            <a:ext cx="9702245" cy="3947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923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0E73-0C5F-22BD-7B4D-F92E2F59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4.Login 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DCC1D-DDBD-939F-8B71-0D18E33F0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look at how a Component and Service work together in a real scenario:</a:t>
            </a:r>
          </a:p>
          <a:p>
            <a:r>
              <a:rPr lang="en-US" b="1" dirty="0"/>
              <a:t>The Service (The "Office")</a:t>
            </a:r>
          </a:p>
          <a:p>
            <a:r>
              <a:rPr lang="en-US" dirty="0"/>
              <a:t>The Service handles the "Work." It checks if the password is correct.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9096D-6EA2-E046-2E32-AD4B4B07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730" y="4002905"/>
            <a:ext cx="7825961" cy="234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15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D637-8A59-C16D-8FE8-317917F3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Component (The "Counter")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C9307-6817-8FFA-92F5-665345864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Component handles the "User." It shows the input box and the button.</a:t>
            </a:r>
          </a:p>
          <a:p>
            <a:r>
              <a:rPr lang="en-US" sz="2400" dirty="0"/>
              <a:t>The User types a password.</a:t>
            </a:r>
          </a:p>
          <a:p>
            <a:r>
              <a:rPr lang="en-US" sz="2400" dirty="0"/>
              <a:t>The Component sends that password to the </a:t>
            </a:r>
            <a:r>
              <a:rPr lang="en-US" sz="2400" b="1" dirty="0"/>
              <a:t>Service</a:t>
            </a:r>
            <a:r>
              <a:rPr lang="en-US" sz="2400" dirty="0"/>
              <a:t>.</a:t>
            </a:r>
          </a:p>
          <a:p>
            <a:r>
              <a:rPr lang="en-US" sz="2400" dirty="0"/>
              <a:t>The Component "watches" the </a:t>
            </a:r>
            <a:r>
              <a:rPr lang="en-US" sz="2400" dirty="0" err="1"/>
              <a:t>isLoggedIn</a:t>
            </a:r>
            <a:r>
              <a:rPr lang="en-US" sz="2400" dirty="0"/>
              <a:t> signal. As soon as it becomes true, the Component hides the login box and shows a "Welcome" message.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9486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0C3A-80C1-C717-F496-31EB8FBB0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is better than plain HTML/JS?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6A2A3-8901-AF6F-6A39-582900FDE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 plain JavaScript, you would have to manually find the HTML element, change the text, and hide the div using </a:t>
            </a:r>
            <a:r>
              <a:rPr lang="en-US" dirty="0" err="1"/>
              <a:t>document.getElementById</a:t>
            </a:r>
            <a:r>
              <a:rPr lang="en-US" dirty="0"/>
              <a:t>. It gets messy fast.</a:t>
            </a:r>
          </a:p>
          <a:p>
            <a:r>
              <a:rPr lang="en-US" dirty="0"/>
              <a:t>In </a:t>
            </a:r>
            <a:r>
              <a:rPr lang="en-US" b="1" dirty="0"/>
              <a:t>Angular</a:t>
            </a:r>
            <a:r>
              <a:rPr lang="en-US" dirty="0"/>
              <a:t>:</a:t>
            </a:r>
          </a:p>
          <a:p>
            <a:r>
              <a:rPr lang="en-US" dirty="0"/>
              <a:t>You change the data in the </a:t>
            </a:r>
            <a:r>
              <a:rPr lang="en-US" b="1" dirty="0"/>
              <a:t>Service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Signal</a:t>
            </a:r>
            <a:r>
              <a:rPr lang="en-US" dirty="0"/>
              <a:t> notifies the </a:t>
            </a:r>
            <a:r>
              <a:rPr lang="en-US" b="1" dirty="0"/>
              <a:t>Component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HTML</a:t>
            </a:r>
            <a:r>
              <a:rPr lang="en-US" dirty="0"/>
              <a:t> updates itself automatically.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432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9ED3-3D90-4861-3985-0C26A9B6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9A894E-0013-250B-26C4-E3B9F012B3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3276223"/>
            <a:ext cx="1018641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"I show the UI and talk to the user.“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"I hold the data and do the heavy logic.“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"I am the messenger that keeps them both in sync."</a:t>
            </a:r>
          </a:p>
        </p:txBody>
      </p:sp>
    </p:spTree>
    <p:extLst>
      <p:ext uri="{BB962C8B-B14F-4D97-AF65-F5344CB8AC3E}">
        <p14:creationId xmlns:p14="http://schemas.microsoft.com/office/powerpoint/2010/main" val="789553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A3D8F-476F-AE22-35A4-32C0ED8F7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3213" cy="34219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931</Words>
  <Application>Microsoft Office PowerPoint</Application>
  <PresentationFormat>Widescreen</PresentationFormat>
  <Paragraphs>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Bierstadt</vt:lpstr>
      <vt:lpstr>GestaltVTI</vt:lpstr>
      <vt:lpstr>Angular</vt:lpstr>
      <vt:lpstr>Angular </vt:lpstr>
      <vt:lpstr>Angular</vt:lpstr>
      <vt:lpstr>Angular</vt:lpstr>
      <vt:lpstr>A Framework</vt:lpstr>
      <vt:lpstr>Feeling lost ?</vt:lpstr>
      <vt:lpstr>1. What is a Component? (The "Brick") </vt:lpstr>
      <vt:lpstr>1. What is a Component? (The "Brick") </vt:lpstr>
      <vt:lpstr>2. What is a Service? (The "Utility") </vt:lpstr>
      <vt:lpstr>2. What is a Service? (The "Utility") </vt:lpstr>
      <vt:lpstr>3. How do they talk? (Data Binding &amp; Signals) </vt:lpstr>
      <vt:lpstr>3. How do they talk? (Data Binding &amp; Signals) </vt:lpstr>
      <vt:lpstr>3. How do they talk? (Data Binding &amp; Signals) </vt:lpstr>
      <vt:lpstr>4.Login Example </vt:lpstr>
      <vt:lpstr>The Component (The "Counter") </vt:lpstr>
      <vt:lpstr>Why this is better than plain HTML/JS? 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Blu Clone</dc:creator>
  <cp:lastModifiedBy>Blu Clone</cp:lastModifiedBy>
  <cp:revision>13</cp:revision>
  <dcterms:created xsi:type="dcterms:W3CDTF">2026-03-16T00:52:59Z</dcterms:created>
  <dcterms:modified xsi:type="dcterms:W3CDTF">2026-03-16T03:49:03Z</dcterms:modified>
</cp:coreProperties>
</file>