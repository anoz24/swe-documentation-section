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91" r:id="rId10"/>
    <p:sldId id="264" r:id="rId11"/>
    <p:sldId id="26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2" r:id="rId28"/>
    <p:sldId id="294" r:id="rId29"/>
    <p:sldId id="29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94660"/>
  </p:normalViewPr>
  <p:slideViewPr>
    <p:cSldViewPr snapToGrid="0">
      <p:cViewPr varScale="1">
        <p:scale>
          <a:sx n="105" d="100"/>
          <a:sy n="105" d="100"/>
        </p:scale>
        <p:origin x="6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323A9C-6C20-4FF2-9B34-8F12C943AB58}"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D14D43EF-896E-43BB-B011-7ABE50E64736}">
      <dgm:prSet/>
      <dgm:spPr/>
      <dgm:t>
        <a:bodyPr/>
        <a:lstStyle/>
        <a:p>
          <a:r>
            <a:rPr lang="en-US" b="0" i="0" baseline="0"/>
            <a:t>Sequence diagrams model </a:t>
          </a:r>
          <a:r>
            <a:rPr lang="en-US" b="1" i="0" baseline="0"/>
            <a:t>interaction over time</a:t>
          </a:r>
          <a:r>
            <a:rPr lang="en-US" b="0" i="0" baseline="0"/>
            <a:t> </a:t>
          </a:r>
          <a:endParaRPr lang="en-US"/>
        </a:p>
      </dgm:t>
    </dgm:pt>
    <dgm:pt modelId="{240B1ACC-A8CA-4C6C-BBD4-8BB239FF4C0F}" type="parTrans" cxnId="{E8665495-7BB4-4D94-B48C-18B30E15320A}">
      <dgm:prSet/>
      <dgm:spPr/>
      <dgm:t>
        <a:bodyPr/>
        <a:lstStyle/>
        <a:p>
          <a:endParaRPr lang="en-US"/>
        </a:p>
      </dgm:t>
    </dgm:pt>
    <dgm:pt modelId="{DC8DA1A0-6C7E-4CAB-982F-1368394768D2}" type="sibTrans" cxnId="{E8665495-7BB4-4D94-B48C-18B30E15320A}">
      <dgm:prSet/>
      <dgm:spPr/>
      <dgm:t>
        <a:bodyPr/>
        <a:lstStyle/>
        <a:p>
          <a:endParaRPr lang="en-US"/>
        </a:p>
      </dgm:t>
    </dgm:pt>
    <dgm:pt modelId="{3C125BBC-6C6D-42B5-A96B-468D3756A7E6}">
      <dgm:prSet/>
      <dgm:spPr/>
      <dgm:t>
        <a:bodyPr/>
        <a:lstStyle/>
        <a:p>
          <a:r>
            <a:rPr lang="en-US" b="0" i="0" baseline="0"/>
            <a:t>Essential for system design and analysis </a:t>
          </a:r>
          <a:endParaRPr lang="en-US"/>
        </a:p>
      </dgm:t>
    </dgm:pt>
    <dgm:pt modelId="{3F01107C-0E15-457E-924F-46CB1039D6B0}" type="parTrans" cxnId="{80F7D129-3747-4293-A1F3-46CEB60946F0}">
      <dgm:prSet/>
      <dgm:spPr/>
      <dgm:t>
        <a:bodyPr/>
        <a:lstStyle/>
        <a:p>
          <a:endParaRPr lang="en-US"/>
        </a:p>
      </dgm:t>
    </dgm:pt>
    <dgm:pt modelId="{63CAA85A-F5DA-4E1E-91AB-DA9FC9DB79E2}" type="sibTrans" cxnId="{80F7D129-3747-4293-A1F3-46CEB60946F0}">
      <dgm:prSet/>
      <dgm:spPr/>
      <dgm:t>
        <a:bodyPr/>
        <a:lstStyle/>
        <a:p>
          <a:endParaRPr lang="en-US"/>
        </a:p>
      </dgm:t>
    </dgm:pt>
    <dgm:pt modelId="{61E849B2-CE34-4612-8D7F-4810864031D0}">
      <dgm:prSet/>
      <dgm:spPr/>
      <dgm:t>
        <a:bodyPr/>
        <a:lstStyle/>
        <a:p>
          <a:r>
            <a:rPr lang="en-US" b="0" i="0" baseline="0"/>
            <a:t>Helps in understanding real-world workflows </a:t>
          </a:r>
          <a:endParaRPr lang="en-US"/>
        </a:p>
      </dgm:t>
    </dgm:pt>
    <dgm:pt modelId="{C9C4EF55-8746-493B-A7D4-AB32072BCD71}" type="parTrans" cxnId="{57C5A006-7ACE-4E1D-94BE-46E7B4F4FA3E}">
      <dgm:prSet/>
      <dgm:spPr/>
      <dgm:t>
        <a:bodyPr/>
        <a:lstStyle/>
        <a:p>
          <a:endParaRPr lang="en-US"/>
        </a:p>
      </dgm:t>
    </dgm:pt>
    <dgm:pt modelId="{6069E25F-7425-4DE0-B455-CB72DE8C4C8E}" type="sibTrans" cxnId="{57C5A006-7ACE-4E1D-94BE-46E7B4F4FA3E}">
      <dgm:prSet/>
      <dgm:spPr/>
      <dgm:t>
        <a:bodyPr/>
        <a:lstStyle/>
        <a:p>
          <a:endParaRPr lang="en-US"/>
        </a:p>
      </dgm:t>
    </dgm:pt>
    <dgm:pt modelId="{D5620EE7-3657-4F45-AF77-0FEE02E84F5A}" type="pres">
      <dgm:prSet presAssocID="{45323A9C-6C20-4FF2-9B34-8F12C943AB58}" presName="diagram" presStyleCnt="0">
        <dgm:presLayoutVars>
          <dgm:chPref val="1"/>
          <dgm:dir/>
          <dgm:animOne val="branch"/>
          <dgm:animLvl val="lvl"/>
          <dgm:resizeHandles/>
        </dgm:presLayoutVars>
      </dgm:prSet>
      <dgm:spPr/>
    </dgm:pt>
    <dgm:pt modelId="{9CB755A1-D4D6-4262-8B09-1EE2D39F3E53}" type="pres">
      <dgm:prSet presAssocID="{D14D43EF-896E-43BB-B011-7ABE50E64736}" presName="root" presStyleCnt="0"/>
      <dgm:spPr/>
    </dgm:pt>
    <dgm:pt modelId="{8BC2B520-7F43-416B-8784-9D3AB25EA8AA}" type="pres">
      <dgm:prSet presAssocID="{D14D43EF-896E-43BB-B011-7ABE50E64736}" presName="rootComposite" presStyleCnt="0"/>
      <dgm:spPr/>
    </dgm:pt>
    <dgm:pt modelId="{5151946A-F4A6-4267-B80D-B3A227BDB59F}" type="pres">
      <dgm:prSet presAssocID="{D14D43EF-896E-43BB-B011-7ABE50E64736}" presName="rootText" presStyleLbl="node1" presStyleIdx="0" presStyleCnt="3"/>
      <dgm:spPr/>
    </dgm:pt>
    <dgm:pt modelId="{6C51E812-07ED-4565-A98B-C2690A525915}" type="pres">
      <dgm:prSet presAssocID="{D14D43EF-896E-43BB-B011-7ABE50E64736}" presName="rootConnector" presStyleLbl="node1" presStyleIdx="0" presStyleCnt="3"/>
      <dgm:spPr/>
    </dgm:pt>
    <dgm:pt modelId="{DBDE2894-F61B-449C-902C-7C9FD69B8C0E}" type="pres">
      <dgm:prSet presAssocID="{D14D43EF-896E-43BB-B011-7ABE50E64736}" presName="childShape" presStyleCnt="0"/>
      <dgm:spPr/>
    </dgm:pt>
    <dgm:pt modelId="{31800FA2-0AB6-497A-AD41-51B9854E1A5E}" type="pres">
      <dgm:prSet presAssocID="{3C125BBC-6C6D-42B5-A96B-468D3756A7E6}" presName="root" presStyleCnt="0"/>
      <dgm:spPr/>
    </dgm:pt>
    <dgm:pt modelId="{F4F2985C-B47C-43D4-907D-25128F99454D}" type="pres">
      <dgm:prSet presAssocID="{3C125BBC-6C6D-42B5-A96B-468D3756A7E6}" presName="rootComposite" presStyleCnt="0"/>
      <dgm:spPr/>
    </dgm:pt>
    <dgm:pt modelId="{EBBED8B4-3846-44A5-AA0A-9496C16C3383}" type="pres">
      <dgm:prSet presAssocID="{3C125BBC-6C6D-42B5-A96B-468D3756A7E6}" presName="rootText" presStyleLbl="node1" presStyleIdx="1" presStyleCnt="3"/>
      <dgm:spPr/>
    </dgm:pt>
    <dgm:pt modelId="{78F2B8EC-2E8B-465D-A103-763DFB1C30BB}" type="pres">
      <dgm:prSet presAssocID="{3C125BBC-6C6D-42B5-A96B-468D3756A7E6}" presName="rootConnector" presStyleLbl="node1" presStyleIdx="1" presStyleCnt="3"/>
      <dgm:spPr/>
    </dgm:pt>
    <dgm:pt modelId="{AA5F9703-E20C-4A0A-98A5-D3287F976A35}" type="pres">
      <dgm:prSet presAssocID="{3C125BBC-6C6D-42B5-A96B-468D3756A7E6}" presName="childShape" presStyleCnt="0"/>
      <dgm:spPr/>
    </dgm:pt>
    <dgm:pt modelId="{66231D32-AEEE-414D-BD3E-C6F20FA3B163}" type="pres">
      <dgm:prSet presAssocID="{61E849B2-CE34-4612-8D7F-4810864031D0}" presName="root" presStyleCnt="0"/>
      <dgm:spPr/>
    </dgm:pt>
    <dgm:pt modelId="{9ECBDFE2-E93F-4ABB-B50A-86FCF9E3D8A4}" type="pres">
      <dgm:prSet presAssocID="{61E849B2-CE34-4612-8D7F-4810864031D0}" presName="rootComposite" presStyleCnt="0"/>
      <dgm:spPr/>
    </dgm:pt>
    <dgm:pt modelId="{B8C4BFA9-9030-4F96-9C31-FCABD84D763D}" type="pres">
      <dgm:prSet presAssocID="{61E849B2-CE34-4612-8D7F-4810864031D0}" presName="rootText" presStyleLbl="node1" presStyleIdx="2" presStyleCnt="3"/>
      <dgm:spPr/>
    </dgm:pt>
    <dgm:pt modelId="{931BC37E-B79E-49C1-9B88-E2D9B8BA7482}" type="pres">
      <dgm:prSet presAssocID="{61E849B2-CE34-4612-8D7F-4810864031D0}" presName="rootConnector" presStyleLbl="node1" presStyleIdx="2" presStyleCnt="3"/>
      <dgm:spPr/>
    </dgm:pt>
    <dgm:pt modelId="{606362E6-4312-4480-AC4D-A442115F63EC}" type="pres">
      <dgm:prSet presAssocID="{61E849B2-CE34-4612-8D7F-4810864031D0}" presName="childShape" presStyleCnt="0"/>
      <dgm:spPr/>
    </dgm:pt>
  </dgm:ptLst>
  <dgm:cxnLst>
    <dgm:cxn modelId="{57C5A006-7ACE-4E1D-94BE-46E7B4F4FA3E}" srcId="{45323A9C-6C20-4FF2-9B34-8F12C943AB58}" destId="{61E849B2-CE34-4612-8D7F-4810864031D0}" srcOrd="2" destOrd="0" parTransId="{C9C4EF55-8746-493B-A7D4-AB32072BCD71}" sibTransId="{6069E25F-7425-4DE0-B455-CB72DE8C4C8E}"/>
    <dgm:cxn modelId="{80F7D129-3747-4293-A1F3-46CEB60946F0}" srcId="{45323A9C-6C20-4FF2-9B34-8F12C943AB58}" destId="{3C125BBC-6C6D-42B5-A96B-468D3756A7E6}" srcOrd="1" destOrd="0" parTransId="{3F01107C-0E15-457E-924F-46CB1039D6B0}" sibTransId="{63CAA85A-F5DA-4E1E-91AB-DA9FC9DB79E2}"/>
    <dgm:cxn modelId="{AF345257-10EC-4AE4-B391-5ED9A5B92592}" type="presOf" srcId="{45323A9C-6C20-4FF2-9B34-8F12C943AB58}" destId="{D5620EE7-3657-4F45-AF77-0FEE02E84F5A}" srcOrd="0" destOrd="0" presId="urn:microsoft.com/office/officeart/2005/8/layout/hierarchy3"/>
    <dgm:cxn modelId="{0E59287B-C50E-4749-BCB0-1959480B87F9}" type="presOf" srcId="{D14D43EF-896E-43BB-B011-7ABE50E64736}" destId="{5151946A-F4A6-4267-B80D-B3A227BDB59F}" srcOrd="0" destOrd="0" presId="urn:microsoft.com/office/officeart/2005/8/layout/hierarchy3"/>
    <dgm:cxn modelId="{D4D04B7B-7F39-4111-8FAF-14D68CEF831D}" type="presOf" srcId="{61E849B2-CE34-4612-8D7F-4810864031D0}" destId="{B8C4BFA9-9030-4F96-9C31-FCABD84D763D}" srcOrd="0" destOrd="0" presId="urn:microsoft.com/office/officeart/2005/8/layout/hierarchy3"/>
    <dgm:cxn modelId="{600E6C84-DE60-4A8E-A12D-E81C903C5974}" type="presOf" srcId="{61E849B2-CE34-4612-8D7F-4810864031D0}" destId="{931BC37E-B79E-49C1-9B88-E2D9B8BA7482}" srcOrd="1" destOrd="0" presId="urn:microsoft.com/office/officeart/2005/8/layout/hierarchy3"/>
    <dgm:cxn modelId="{E8665495-7BB4-4D94-B48C-18B30E15320A}" srcId="{45323A9C-6C20-4FF2-9B34-8F12C943AB58}" destId="{D14D43EF-896E-43BB-B011-7ABE50E64736}" srcOrd="0" destOrd="0" parTransId="{240B1ACC-A8CA-4C6C-BBD4-8BB239FF4C0F}" sibTransId="{DC8DA1A0-6C7E-4CAB-982F-1368394768D2}"/>
    <dgm:cxn modelId="{4B9EC399-709B-4BE7-A03E-C9BE41B1D4B6}" type="presOf" srcId="{3C125BBC-6C6D-42B5-A96B-468D3756A7E6}" destId="{78F2B8EC-2E8B-465D-A103-763DFB1C30BB}" srcOrd="1" destOrd="0" presId="urn:microsoft.com/office/officeart/2005/8/layout/hierarchy3"/>
    <dgm:cxn modelId="{7E0A70BD-D273-4911-9FBF-724576FFD5CC}" type="presOf" srcId="{D14D43EF-896E-43BB-B011-7ABE50E64736}" destId="{6C51E812-07ED-4565-A98B-C2690A525915}" srcOrd="1" destOrd="0" presId="urn:microsoft.com/office/officeart/2005/8/layout/hierarchy3"/>
    <dgm:cxn modelId="{98CB71FB-F793-4366-B8C5-F9128562AB1F}" type="presOf" srcId="{3C125BBC-6C6D-42B5-A96B-468D3756A7E6}" destId="{EBBED8B4-3846-44A5-AA0A-9496C16C3383}" srcOrd="0" destOrd="0" presId="urn:microsoft.com/office/officeart/2005/8/layout/hierarchy3"/>
    <dgm:cxn modelId="{7098FFE2-1086-483D-A6C0-6628BAFB2EBE}" type="presParOf" srcId="{D5620EE7-3657-4F45-AF77-0FEE02E84F5A}" destId="{9CB755A1-D4D6-4262-8B09-1EE2D39F3E53}" srcOrd="0" destOrd="0" presId="urn:microsoft.com/office/officeart/2005/8/layout/hierarchy3"/>
    <dgm:cxn modelId="{7FD6D247-F272-49BD-9AEC-01A78FBCAED6}" type="presParOf" srcId="{9CB755A1-D4D6-4262-8B09-1EE2D39F3E53}" destId="{8BC2B520-7F43-416B-8784-9D3AB25EA8AA}" srcOrd="0" destOrd="0" presId="urn:microsoft.com/office/officeart/2005/8/layout/hierarchy3"/>
    <dgm:cxn modelId="{687A5B06-E409-45EB-8893-001EB7B98A5F}" type="presParOf" srcId="{8BC2B520-7F43-416B-8784-9D3AB25EA8AA}" destId="{5151946A-F4A6-4267-B80D-B3A227BDB59F}" srcOrd="0" destOrd="0" presId="urn:microsoft.com/office/officeart/2005/8/layout/hierarchy3"/>
    <dgm:cxn modelId="{8B5ED9B7-DCB9-49A3-98BC-DE1D6A584396}" type="presParOf" srcId="{8BC2B520-7F43-416B-8784-9D3AB25EA8AA}" destId="{6C51E812-07ED-4565-A98B-C2690A525915}" srcOrd="1" destOrd="0" presId="urn:microsoft.com/office/officeart/2005/8/layout/hierarchy3"/>
    <dgm:cxn modelId="{37E544E8-310D-4524-9F56-D75144B95A6A}" type="presParOf" srcId="{9CB755A1-D4D6-4262-8B09-1EE2D39F3E53}" destId="{DBDE2894-F61B-449C-902C-7C9FD69B8C0E}" srcOrd="1" destOrd="0" presId="urn:microsoft.com/office/officeart/2005/8/layout/hierarchy3"/>
    <dgm:cxn modelId="{3E6A5418-8127-49EE-BECB-B1E8332C396D}" type="presParOf" srcId="{D5620EE7-3657-4F45-AF77-0FEE02E84F5A}" destId="{31800FA2-0AB6-497A-AD41-51B9854E1A5E}" srcOrd="1" destOrd="0" presId="urn:microsoft.com/office/officeart/2005/8/layout/hierarchy3"/>
    <dgm:cxn modelId="{38BDD9CD-144C-442F-87B0-09D54BD8A4C4}" type="presParOf" srcId="{31800FA2-0AB6-497A-AD41-51B9854E1A5E}" destId="{F4F2985C-B47C-43D4-907D-25128F99454D}" srcOrd="0" destOrd="0" presId="urn:microsoft.com/office/officeart/2005/8/layout/hierarchy3"/>
    <dgm:cxn modelId="{AB3D9ABE-BF07-44D8-A0E4-68535863ED0F}" type="presParOf" srcId="{F4F2985C-B47C-43D4-907D-25128F99454D}" destId="{EBBED8B4-3846-44A5-AA0A-9496C16C3383}" srcOrd="0" destOrd="0" presId="urn:microsoft.com/office/officeart/2005/8/layout/hierarchy3"/>
    <dgm:cxn modelId="{2540F7C4-2B3D-4AC0-A9E1-7A7090D5E80A}" type="presParOf" srcId="{F4F2985C-B47C-43D4-907D-25128F99454D}" destId="{78F2B8EC-2E8B-465D-A103-763DFB1C30BB}" srcOrd="1" destOrd="0" presId="urn:microsoft.com/office/officeart/2005/8/layout/hierarchy3"/>
    <dgm:cxn modelId="{463082F4-7149-4AA6-9D91-267B858A5E9A}" type="presParOf" srcId="{31800FA2-0AB6-497A-AD41-51B9854E1A5E}" destId="{AA5F9703-E20C-4A0A-98A5-D3287F976A35}" srcOrd="1" destOrd="0" presId="urn:microsoft.com/office/officeart/2005/8/layout/hierarchy3"/>
    <dgm:cxn modelId="{E0C3185B-EBCD-4C9C-894A-11F0212E2B6F}" type="presParOf" srcId="{D5620EE7-3657-4F45-AF77-0FEE02E84F5A}" destId="{66231D32-AEEE-414D-BD3E-C6F20FA3B163}" srcOrd="2" destOrd="0" presId="urn:microsoft.com/office/officeart/2005/8/layout/hierarchy3"/>
    <dgm:cxn modelId="{69DEBBF8-109F-4F48-A82D-CB2FC726C6FC}" type="presParOf" srcId="{66231D32-AEEE-414D-BD3E-C6F20FA3B163}" destId="{9ECBDFE2-E93F-4ABB-B50A-86FCF9E3D8A4}" srcOrd="0" destOrd="0" presId="urn:microsoft.com/office/officeart/2005/8/layout/hierarchy3"/>
    <dgm:cxn modelId="{BD2E954F-47C9-43EC-A4A9-220563553D55}" type="presParOf" srcId="{9ECBDFE2-E93F-4ABB-B50A-86FCF9E3D8A4}" destId="{B8C4BFA9-9030-4F96-9C31-FCABD84D763D}" srcOrd="0" destOrd="0" presId="urn:microsoft.com/office/officeart/2005/8/layout/hierarchy3"/>
    <dgm:cxn modelId="{2EA9359F-862E-4968-9115-3381EEADF766}" type="presParOf" srcId="{9ECBDFE2-E93F-4ABB-B50A-86FCF9E3D8A4}" destId="{931BC37E-B79E-49C1-9B88-E2D9B8BA7482}" srcOrd="1" destOrd="0" presId="urn:microsoft.com/office/officeart/2005/8/layout/hierarchy3"/>
    <dgm:cxn modelId="{05C70592-E258-43D7-8A8A-C590A292825D}" type="presParOf" srcId="{66231D32-AEEE-414D-BD3E-C6F20FA3B163}" destId="{606362E6-4312-4480-AC4D-A442115F63EC}"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51946A-F4A6-4267-B80D-B3A227BDB59F}">
      <dsp:nvSpPr>
        <dsp:cNvPr id="0" name=""/>
        <dsp:cNvSpPr/>
      </dsp:nvSpPr>
      <dsp:spPr>
        <a:xfrm>
          <a:off x="1333" y="1316033"/>
          <a:ext cx="3121474" cy="1560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0" i="0" kern="1200" baseline="0"/>
            <a:t>Sequence diagrams model </a:t>
          </a:r>
          <a:r>
            <a:rPr lang="en-US" sz="2800" b="1" i="0" kern="1200" baseline="0"/>
            <a:t>interaction over time</a:t>
          </a:r>
          <a:r>
            <a:rPr lang="en-US" sz="2800" b="0" i="0" kern="1200" baseline="0"/>
            <a:t> </a:t>
          </a:r>
          <a:endParaRPr lang="en-US" sz="2800" kern="1200"/>
        </a:p>
      </dsp:txBody>
      <dsp:txXfrm>
        <a:off x="47045" y="1361745"/>
        <a:ext cx="3030050" cy="1469313"/>
      </dsp:txXfrm>
    </dsp:sp>
    <dsp:sp modelId="{EBBED8B4-3846-44A5-AA0A-9496C16C3383}">
      <dsp:nvSpPr>
        <dsp:cNvPr id="0" name=""/>
        <dsp:cNvSpPr/>
      </dsp:nvSpPr>
      <dsp:spPr>
        <a:xfrm>
          <a:off x="3903177" y="1316033"/>
          <a:ext cx="3121474" cy="1560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0" i="0" kern="1200" baseline="0"/>
            <a:t>Essential for system design and analysis </a:t>
          </a:r>
          <a:endParaRPr lang="en-US" sz="2800" kern="1200"/>
        </a:p>
      </dsp:txBody>
      <dsp:txXfrm>
        <a:off x="3948889" y="1361745"/>
        <a:ext cx="3030050" cy="1469313"/>
      </dsp:txXfrm>
    </dsp:sp>
    <dsp:sp modelId="{B8C4BFA9-9030-4F96-9C31-FCABD84D763D}">
      <dsp:nvSpPr>
        <dsp:cNvPr id="0" name=""/>
        <dsp:cNvSpPr/>
      </dsp:nvSpPr>
      <dsp:spPr>
        <a:xfrm>
          <a:off x="7805020" y="1316033"/>
          <a:ext cx="3121474" cy="1560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0" i="0" kern="1200" baseline="0"/>
            <a:t>Helps in understanding real-world workflows </a:t>
          </a:r>
          <a:endParaRPr lang="en-US" sz="2800" kern="1200"/>
        </a:p>
      </dsp:txBody>
      <dsp:txXfrm>
        <a:off x="7850732" y="1361745"/>
        <a:ext cx="3030050" cy="146931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AE63D0-20DD-4486-9EFD-27D3B1B84F65}"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3326600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E63D0-20DD-4486-9EFD-27D3B1B84F65}"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39482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AE63D0-20DD-4486-9EFD-27D3B1B84F65}"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2466238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AE63D0-20DD-4486-9EFD-27D3B1B84F65}"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188722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AE63D0-20DD-4486-9EFD-27D3B1B84F65}"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1353499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AE63D0-20DD-4486-9EFD-27D3B1B84F65}"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1807939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AE63D0-20DD-4486-9EFD-27D3B1B84F65}"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3808941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AE63D0-20DD-4486-9EFD-27D3B1B84F65}"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1898787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AE63D0-20DD-4486-9EFD-27D3B1B84F65}"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492919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E63D0-20DD-4486-9EFD-27D3B1B84F65}"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65490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E63D0-20DD-4486-9EFD-27D3B1B84F65}"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B36E2B-6D4C-4A81-9D54-CDD2AE85FA5F}" type="slidenum">
              <a:rPr lang="en-US" smtClean="0"/>
              <a:t>‹#›</a:t>
            </a:fld>
            <a:endParaRPr lang="en-US"/>
          </a:p>
        </p:txBody>
      </p:sp>
    </p:spTree>
    <p:extLst>
      <p:ext uri="{BB962C8B-B14F-4D97-AF65-F5344CB8AC3E}">
        <p14:creationId xmlns:p14="http://schemas.microsoft.com/office/powerpoint/2010/main" val="352267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AE63D0-20DD-4486-9EFD-27D3B1B84F65}" type="datetimeFigureOut">
              <a:rPr lang="en-US" smtClean="0"/>
              <a:t>4/5/2026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B36E2B-6D4C-4A81-9D54-CDD2AE85FA5F}" type="slidenum">
              <a:rPr lang="en-US" smtClean="0"/>
              <a:t>‹#›</a:t>
            </a:fld>
            <a:endParaRPr lang="en-US"/>
          </a:p>
        </p:txBody>
      </p:sp>
    </p:spTree>
    <p:extLst>
      <p:ext uri="{BB962C8B-B14F-4D97-AF65-F5344CB8AC3E}">
        <p14:creationId xmlns:p14="http://schemas.microsoft.com/office/powerpoint/2010/main" val="891438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38C2B-753B-D7AA-AC06-EAE65AC1E382}"/>
              </a:ext>
            </a:extLst>
          </p:cNvPr>
          <p:cNvSpPr>
            <a:spLocks noGrp="1"/>
          </p:cNvSpPr>
          <p:nvPr>
            <p:ph type="ctrTitle"/>
          </p:nvPr>
        </p:nvSpPr>
        <p:spPr/>
        <p:txBody>
          <a:bodyPr/>
          <a:lstStyle/>
          <a:p>
            <a:r>
              <a:rPr lang="en-US" dirty="0"/>
              <a:t>UML Sequence Diagram</a:t>
            </a:r>
          </a:p>
        </p:txBody>
      </p:sp>
      <p:sp>
        <p:nvSpPr>
          <p:cNvPr id="3" name="Subtitle 2">
            <a:extLst>
              <a:ext uri="{FF2B5EF4-FFF2-40B4-BE49-F238E27FC236}">
                <a16:creationId xmlns:a16="http://schemas.microsoft.com/office/drawing/2014/main" id="{C69D6080-5D63-E812-031B-5297AD930BEB}"/>
              </a:ext>
            </a:extLst>
          </p:cNvPr>
          <p:cNvSpPr>
            <a:spLocks noGrp="1"/>
          </p:cNvSpPr>
          <p:nvPr>
            <p:ph type="subTitle" idx="1"/>
          </p:nvPr>
        </p:nvSpPr>
        <p:spPr/>
        <p:txBody>
          <a:bodyPr/>
          <a:lstStyle/>
          <a:p>
            <a:r>
              <a:rPr lang="en-US" dirty="0"/>
              <a:t>Understanding Interaction Between System Components</a:t>
            </a:r>
          </a:p>
        </p:txBody>
      </p:sp>
      <p:sp>
        <p:nvSpPr>
          <p:cNvPr id="4" name="TextBox 3">
            <a:extLst>
              <a:ext uri="{FF2B5EF4-FFF2-40B4-BE49-F238E27FC236}">
                <a16:creationId xmlns:a16="http://schemas.microsoft.com/office/drawing/2014/main" id="{D76FD2D7-54BA-63D3-8241-755BD1488888}"/>
              </a:ext>
            </a:extLst>
          </p:cNvPr>
          <p:cNvSpPr txBox="1"/>
          <p:nvPr/>
        </p:nvSpPr>
        <p:spPr>
          <a:xfrm>
            <a:off x="9125712" y="6135624"/>
            <a:ext cx="2441448" cy="384048"/>
          </a:xfrm>
          <a:prstGeom prst="rect">
            <a:avLst/>
          </a:prstGeom>
          <a:noFill/>
        </p:spPr>
        <p:txBody>
          <a:bodyPr wrap="square" rtlCol="0">
            <a:spAutoFit/>
          </a:bodyPr>
          <a:lstStyle/>
          <a:p>
            <a:r>
              <a:rPr lang="en-US"/>
              <a:t>TA/Abdelrahman Hanfi </a:t>
            </a:r>
            <a:endParaRPr lang="en-US" dirty="0"/>
          </a:p>
        </p:txBody>
      </p:sp>
    </p:spTree>
    <p:extLst>
      <p:ext uri="{BB962C8B-B14F-4D97-AF65-F5344CB8AC3E}">
        <p14:creationId xmlns:p14="http://schemas.microsoft.com/office/powerpoint/2010/main" val="1345644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2F9E-7A6E-7C4B-EC96-EF513C3758AD}"/>
              </a:ext>
            </a:extLst>
          </p:cNvPr>
          <p:cNvSpPr>
            <a:spLocks noGrp="1"/>
          </p:cNvSpPr>
          <p:nvPr>
            <p:ph type="title"/>
          </p:nvPr>
        </p:nvSpPr>
        <p:spPr/>
        <p:txBody>
          <a:bodyPr/>
          <a:lstStyle/>
          <a:p>
            <a:r>
              <a:rPr lang="en-US" dirty="0"/>
              <a:t>UML </a:t>
            </a:r>
          </a:p>
        </p:txBody>
      </p:sp>
      <p:sp>
        <p:nvSpPr>
          <p:cNvPr id="3" name="Content Placeholder 2">
            <a:extLst>
              <a:ext uri="{FF2B5EF4-FFF2-40B4-BE49-F238E27FC236}">
                <a16:creationId xmlns:a16="http://schemas.microsoft.com/office/drawing/2014/main" id="{EB94C586-7E77-847B-60E3-A24A20E6C038}"/>
              </a:ext>
            </a:extLst>
          </p:cNvPr>
          <p:cNvSpPr>
            <a:spLocks noGrp="1"/>
          </p:cNvSpPr>
          <p:nvPr>
            <p:ph idx="1"/>
          </p:nvPr>
        </p:nvSpPr>
        <p:spPr/>
        <p:txBody>
          <a:bodyPr/>
          <a:lstStyle/>
          <a:p>
            <a:r>
              <a:rPr lang="en-US" dirty="0"/>
              <a:t>The Unified Modeling Language (UML) is a standardized, general-purpose visual modeling language used to specify, visualize, construct, and document software systems, business processes, and structural designs</a:t>
            </a:r>
          </a:p>
        </p:txBody>
      </p:sp>
      <p:pic>
        <p:nvPicPr>
          <p:cNvPr id="1026" name="Picture 2" descr="Unified Modeling Language - Wikipedia">
            <a:extLst>
              <a:ext uri="{FF2B5EF4-FFF2-40B4-BE49-F238E27FC236}">
                <a16:creationId xmlns:a16="http://schemas.microsoft.com/office/drawing/2014/main" id="{4E6D7329-0323-D7D9-71BF-1B39927CA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0061" y="4001294"/>
            <a:ext cx="3291990" cy="239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992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UML-Diagrams">
            <a:extLst>
              <a:ext uri="{FF2B5EF4-FFF2-40B4-BE49-F238E27FC236}">
                <a16:creationId xmlns:a16="http://schemas.microsoft.com/office/drawing/2014/main" id="{FECF9855-78C4-841F-F373-046E2441D1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013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D4E464D-E327-BE52-FBD4-F3ACAD7E6DD9}"/>
              </a:ext>
            </a:extLst>
          </p:cNvPr>
          <p:cNvSpPr>
            <a:spLocks noGrp="1"/>
          </p:cNvSpPr>
          <p:nvPr>
            <p:ph type="title"/>
          </p:nvPr>
        </p:nvSpPr>
        <p:spPr>
          <a:xfrm>
            <a:off x="1137034" y="609597"/>
            <a:ext cx="9392421" cy="1330841"/>
          </a:xfrm>
        </p:spPr>
        <p:txBody>
          <a:bodyPr>
            <a:normAutofit/>
          </a:bodyPr>
          <a:lstStyle/>
          <a:p>
            <a:r>
              <a:rPr lang="en-US" dirty="0"/>
              <a:t>Structural diagrams</a:t>
            </a:r>
          </a:p>
        </p:txBody>
      </p:sp>
      <p:sp>
        <p:nvSpPr>
          <p:cNvPr id="3" name="Content Placeholder 2">
            <a:extLst>
              <a:ext uri="{FF2B5EF4-FFF2-40B4-BE49-F238E27FC236}">
                <a16:creationId xmlns:a16="http://schemas.microsoft.com/office/drawing/2014/main" id="{F4202C4F-5E34-338F-EBF1-E9D8B0924879}"/>
              </a:ext>
            </a:extLst>
          </p:cNvPr>
          <p:cNvSpPr>
            <a:spLocks noGrp="1"/>
          </p:cNvSpPr>
          <p:nvPr>
            <p:ph idx="1"/>
          </p:nvPr>
        </p:nvSpPr>
        <p:spPr>
          <a:xfrm>
            <a:off x="1137034" y="2198362"/>
            <a:ext cx="4958966" cy="3917773"/>
          </a:xfrm>
        </p:spPr>
        <p:txBody>
          <a:bodyPr>
            <a:normAutofit/>
          </a:bodyPr>
          <a:lstStyle/>
          <a:p>
            <a:r>
              <a:rPr lang="en-US" sz="2000"/>
              <a:t>which map the static, physical, or logical components of a system (e.g., classes, objects, deployment)</a:t>
            </a:r>
          </a:p>
        </p:txBody>
      </p:sp>
      <p:pic>
        <p:nvPicPr>
          <p:cNvPr id="8" name="Picture 7">
            <a:extLst>
              <a:ext uri="{FF2B5EF4-FFF2-40B4-BE49-F238E27FC236}">
                <a16:creationId xmlns:a16="http://schemas.microsoft.com/office/drawing/2014/main" id="{68B96083-53BC-02B0-5D6F-C77CA9D184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383" y="2865745"/>
            <a:ext cx="6637489" cy="3318744"/>
          </a:xfrm>
          <a:prstGeom prst="rect">
            <a:avLst/>
          </a:prstGeom>
        </p:spPr>
      </p:pic>
      <p:sp>
        <p:nvSpPr>
          <p:cNvPr id="17" name="Freeform: Shape 1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60832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CB4B1B-3F91-7DFE-992A-FABDA5C446D7}"/>
              </a:ext>
            </a:extLst>
          </p:cNvPr>
          <p:cNvSpPr>
            <a:spLocks noGrp="1"/>
          </p:cNvSpPr>
          <p:nvPr>
            <p:ph type="title"/>
          </p:nvPr>
        </p:nvSpPr>
        <p:spPr>
          <a:xfrm>
            <a:off x="411480" y="991443"/>
            <a:ext cx="4443154" cy="1087819"/>
          </a:xfrm>
        </p:spPr>
        <p:txBody>
          <a:bodyPr anchor="b">
            <a:normAutofit/>
          </a:bodyPr>
          <a:lstStyle/>
          <a:p>
            <a:r>
              <a:rPr lang="en-US" sz="3400"/>
              <a:t> Behavioral diagrams</a:t>
            </a:r>
          </a:p>
        </p:txBody>
      </p:sp>
      <p:sp>
        <p:nvSpPr>
          <p:cNvPr id="2057" name="Rectangle 2056">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59" name="Rectangle 205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61F0FC9-2A85-969D-990E-AF8C5510980F}"/>
              </a:ext>
            </a:extLst>
          </p:cNvPr>
          <p:cNvSpPr>
            <a:spLocks noGrp="1"/>
          </p:cNvSpPr>
          <p:nvPr>
            <p:ph idx="1"/>
          </p:nvPr>
        </p:nvSpPr>
        <p:spPr>
          <a:xfrm>
            <a:off x="411480" y="2684095"/>
            <a:ext cx="4443154" cy="3492868"/>
          </a:xfrm>
        </p:spPr>
        <p:txBody>
          <a:bodyPr>
            <a:normAutofit/>
          </a:bodyPr>
          <a:lstStyle/>
          <a:p>
            <a:r>
              <a:rPr lang="en-US" sz="1800"/>
              <a:t>which represent the dynamic, changing interactions, processes, and workflows over time (e.g., activity, sequence, state machine)</a:t>
            </a:r>
          </a:p>
        </p:txBody>
      </p:sp>
      <p:pic>
        <p:nvPicPr>
          <p:cNvPr id="2050" name="Picture 2" descr="Sequence Diagrams - Unified Modeling Language (UML) - GeeksforGeeks">
            <a:extLst>
              <a:ext uri="{FF2B5EF4-FFF2-40B4-BE49-F238E27FC236}">
                <a16:creationId xmlns:a16="http://schemas.microsoft.com/office/drawing/2014/main" id="{04D98B76-9F81-EABE-123D-C85E253D82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1791217"/>
            <a:ext cx="6440424" cy="3220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609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55E0-DE4C-5832-E2A8-E86371CCDE00}"/>
              </a:ext>
            </a:extLst>
          </p:cNvPr>
          <p:cNvSpPr>
            <a:spLocks noGrp="1"/>
          </p:cNvSpPr>
          <p:nvPr>
            <p:ph type="title"/>
          </p:nvPr>
        </p:nvSpPr>
        <p:spPr/>
        <p:txBody>
          <a:bodyPr/>
          <a:lstStyle/>
          <a:p>
            <a:r>
              <a:rPr lang="en-US" dirty="0"/>
              <a:t>Sequence Diagram</a:t>
            </a:r>
          </a:p>
        </p:txBody>
      </p:sp>
      <p:sp>
        <p:nvSpPr>
          <p:cNvPr id="3" name="Content Placeholder 2">
            <a:extLst>
              <a:ext uri="{FF2B5EF4-FFF2-40B4-BE49-F238E27FC236}">
                <a16:creationId xmlns:a16="http://schemas.microsoft.com/office/drawing/2014/main" id="{CC9D9261-DD4C-923C-812F-6D241E949162}"/>
              </a:ext>
            </a:extLst>
          </p:cNvPr>
          <p:cNvSpPr>
            <a:spLocks noGrp="1"/>
          </p:cNvSpPr>
          <p:nvPr>
            <p:ph idx="1"/>
          </p:nvPr>
        </p:nvSpPr>
        <p:spPr/>
        <p:txBody>
          <a:bodyPr/>
          <a:lstStyle/>
          <a:p>
            <a:r>
              <a:rPr lang="en-US" b="1" dirty="0"/>
              <a:t>The Problem:</a:t>
            </a:r>
            <a:r>
              <a:rPr lang="en-US" dirty="0"/>
              <a:t> An Activity Diagram tells us </a:t>
            </a:r>
            <a:r>
              <a:rPr lang="en-US" i="1" dirty="0"/>
              <a:t>what</a:t>
            </a:r>
            <a:r>
              <a:rPr lang="en-US" dirty="0"/>
              <a:t> happens (the logic), but it doesn’t tell us </a:t>
            </a:r>
            <a:r>
              <a:rPr lang="en-US" i="1" dirty="0"/>
              <a:t>who</a:t>
            </a:r>
            <a:r>
              <a:rPr lang="en-US" dirty="0"/>
              <a:t> does it.</a:t>
            </a:r>
          </a:p>
          <a:p>
            <a:r>
              <a:rPr lang="en-US" dirty="0"/>
              <a:t>An activity diagram starts from an initial point and ends at a final point, showing different decision paths along the way.</a:t>
            </a:r>
          </a:p>
          <a:p>
            <a:endParaRPr lang="en-US" dirty="0"/>
          </a:p>
          <a:p>
            <a:pPr fontAlgn="base"/>
            <a:r>
              <a:rPr lang="en-US" dirty="0"/>
              <a:t>The Solution: The Sequence Diagram.</a:t>
            </a:r>
          </a:p>
          <a:p>
            <a:pPr fontAlgn="base"/>
            <a:r>
              <a:rPr lang="en-US" dirty="0"/>
              <a:t>The Goal: Documenting how Angular components, services, and APIs communicate over time.</a:t>
            </a:r>
          </a:p>
        </p:txBody>
      </p:sp>
    </p:spTree>
    <p:extLst>
      <p:ext uri="{BB962C8B-B14F-4D97-AF65-F5344CB8AC3E}">
        <p14:creationId xmlns:p14="http://schemas.microsoft.com/office/powerpoint/2010/main" val="240928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9C01F-5147-D056-49C6-A30EA02A3294}"/>
              </a:ext>
            </a:extLst>
          </p:cNvPr>
          <p:cNvSpPr>
            <a:spLocks noGrp="1"/>
          </p:cNvSpPr>
          <p:nvPr>
            <p:ph type="title"/>
          </p:nvPr>
        </p:nvSpPr>
        <p:spPr/>
        <p:txBody>
          <a:bodyPr/>
          <a:lstStyle/>
          <a:p>
            <a:r>
              <a:rPr lang="en-US" dirty="0"/>
              <a:t>What is a Sequence Diagram?</a:t>
            </a:r>
          </a:p>
        </p:txBody>
      </p:sp>
      <p:sp>
        <p:nvSpPr>
          <p:cNvPr id="3" name="Content Placeholder 2">
            <a:extLst>
              <a:ext uri="{FF2B5EF4-FFF2-40B4-BE49-F238E27FC236}">
                <a16:creationId xmlns:a16="http://schemas.microsoft.com/office/drawing/2014/main" id="{0EB78E66-DB95-562A-0609-72C3F2CDBEB4}"/>
              </a:ext>
            </a:extLst>
          </p:cNvPr>
          <p:cNvSpPr>
            <a:spLocks noGrp="1"/>
          </p:cNvSpPr>
          <p:nvPr>
            <p:ph idx="1"/>
          </p:nvPr>
        </p:nvSpPr>
        <p:spPr/>
        <p:txBody>
          <a:bodyPr/>
          <a:lstStyle/>
          <a:p>
            <a:r>
              <a:rPr lang="en-US" dirty="0"/>
              <a:t>A type of UML (Unified Modeling Language) diagram</a:t>
            </a:r>
          </a:p>
          <a:p>
            <a:r>
              <a:rPr lang="en-US" dirty="0"/>
              <a:t>Shows how objects interact in a particular sequence</a:t>
            </a:r>
          </a:p>
          <a:p>
            <a:r>
              <a:rPr lang="en-US" dirty="0"/>
              <a:t>Focuses on time order of messages</a:t>
            </a:r>
          </a:p>
          <a:p>
            <a:r>
              <a:rPr lang="en-US" dirty="0"/>
              <a:t>Used to model system behavior dynamically</a:t>
            </a:r>
          </a:p>
        </p:txBody>
      </p:sp>
    </p:spTree>
    <p:extLst>
      <p:ext uri="{BB962C8B-B14F-4D97-AF65-F5344CB8AC3E}">
        <p14:creationId xmlns:p14="http://schemas.microsoft.com/office/powerpoint/2010/main" val="1363527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E734F-F0E3-0DE5-0C2B-A33F72A0B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1BC50-CB40-0D7D-7D61-41DC8738FFFC}"/>
              </a:ext>
            </a:extLst>
          </p:cNvPr>
          <p:cNvSpPr>
            <a:spLocks noGrp="1"/>
          </p:cNvSpPr>
          <p:nvPr>
            <p:ph type="title"/>
          </p:nvPr>
        </p:nvSpPr>
        <p:spPr/>
        <p:txBody>
          <a:bodyPr/>
          <a:lstStyle/>
          <a:p>
            <a:r>
              <a:rPr lang="en-US" dirty="0"/>
              <a:t>Why Use Sequence Diagrams?</a:t>
            </a:r>
          </a:p>
        </p:txBody>
      </p:sp>
      <p:sp>
        <p:nvSpPr>
          <p:cNvPr id="3" name="Content Placeholder 2">
            <a:extLst>
              <a:ext uri="{FF2B5EF4-FFF2-40B4-BE49-F238E27FC236}">
                <a16:creationId xmlns:a16="http://schemas.microsoft.com/office/drawing/2014/main" id="{F5DB0B7A-BBB7-2004-9148-CB818A16AD1E}"/>
              </a:ext>
            </a:extLst>
          </p:cNvPr>
          <p:cNvSpPr>
            <a:spLocks noGrp="1"/>
          </p:cNvSpPr>
          <p:nvPr>
            <p:ph idx="1"/>
          </p:nvPr>
        </p:nvSpPr>
        <p:spPr/>
        <p:txBody>
          <a:bodyPr>
            <a:normAutofit/>
          </a:bodyPr>
          <a:lstStyle/>
          <a:p>
            <a:pPr fontAlgn="base"/>
            <a:r>
              <a:rPr lang="en-US" dirty="0"/>
              <a:t>Visualize system interactions clearly</a:t>
            </a:r>
          </a:p>
          <a:p>
            <a:pPr fontAlgn="base"/>
            <a:r>
              <a:rPr lang="en-US" dirty="0"/>
              <a:t>Help in designing and debugging systems</a:t>
            </a:r>
          </a:p>
          <a:p>
            <a:pPr fontAlgn="base"/>
            <a:r>
              <a:rPr lang="en-US" dirty="0"/>
              <a:t>Improve communication between developers</a:t>
            </a:r>
          </a:p>
          <a:p>
            <a:pPr fontAlgn="base"/>
            <a:r>
              <a:rPr lang="en-US" dirty="0"/>
              <a:t>Useful in documenting workflows</a:t>
            </a:r>
          </a:p>
        </p:txBody>
      </p:sp>
    </p:spTree>
    <p:extLst>
      <p:ext uri="{BB962C8B-B14F-4D97-AF65-F5344CB8AC3E}">
        <p14:creationId xmlns:p14="http://schemas.microsoft.com/office/powerpoint/2010/main" val="3528276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C14E1-B9A3-F8EF-4A1D-01E5156E033C}"/>
              </a:ext>
            </a:extLst>
          </p:cNvPr>
          <p:cNvSpPr>
            <a:spLocks noGrp="1"/>
          </p:cNvSpPr>
          <p:nvPr>
            <p:ph type="title"/>
          </p:nvPr>
        </p:nvSpPr>
        <p:spPr/>
        <p:txBody>
          <a:bodyPr/>
          <a:lstStyle/>
          <a:p>
            <a:r>
              <a:rPr lang="en-US" b="1" dirty="0"/>
              <a:t>Use cases of Sequence Diagrams</a:t>
            </a:r>
            <a:endParaRPr lang="en-US" dirty="0"/>
          </a:p>
        </p:txBody>
      </p:sp>
      <p:sp>
        <p:nvSpPr>
          <p:cNvPr id="3" name="Content Placeholder 2">
            <a:extLst>
              <a:ext uri="{FF2B5EF4-FFF2-40B4-BE49-F238E27FC236}">
                <a16:creationId xmlns:a16="http://schemas.microsoft.com/office/drawing/2014/main" id="{7ED3CF16-6A54-EB60-A463-268FED4BA27D}"/>
              </a:ext>
            </a:extLst>
          </p:cNvPr>
          <p:cNvSpPr>
            <a:spLocks noGrp="1"/>
          </p:cNvSpPr>
          <p:nvPr>
            <p:ph idx="1"/>
          </p:nvPr>
        </p:nvSpPr>
        <p:spPr/>
        <p:txBody>
          <a:bodyPr>
            <a:normAutofit fontScale="77500" lnSpcReduction="20000"/>
          </a:bodyPr>
          <a:lstStyle/>
          <a:p>
            <a:pPr fontAlgn="base"/>
            <a:r>
              <a:rPr lang="en-US" dirty="0"/>
              <a:t>Here are some use cases of sequence diagram:</a:t>
            </a:r>
          </a:p>
          <a:p>
            <a:pPr fontAlgn="base"/>
            <a:r>
              <a:rPr lang="en-US" b="1" dirty="0"/>
              <a:t>System Behavior Visualization</a:t>
            </a:r>
            <a:r>
              <a:rPr lang="en-US" dirty="0"/>
              <a:t>: Sequence diagrams show how objects, components, or actors interact over time, providing a clear view of the flow of messages and events in a scenario.</a:t>
            </a:r>
          </a:p>
          <a:p>
            <a:pPr fontAlgn="base"/>
            <a:r>
              <a:rPr lang="en-US" b="1" dirty="0"/>
              <a:t>Software Design and Architecture</a:t>
            </a:r>
            <a:r>
              <a:rPr lang="en-US" dirty="0"/>
              <a:t>: They help developers and architects plan and understand how system components work together, serving as a blueprint for system behavior.</a:t>
            </a:r>
          </a:p>
          <a:p>
            <a:pPr fontAlgn="base"/>
            <a:r>
              <a:rPr lang="en-US" b="1" dirty="0"/>
              <a:t>Communication and Collaboration</a:t>
            </a:r>
            <a:r>
              <a:rPr lang="en-US" dirty="0"/>
              <a:t>: Sequence diagrams make complex interactions easy to understand, helping teams and stakeholders communicate and collaborate effectively.</a:t>
            </a:r>
          </a:p>
          <a:p>
            <a:pPr fontAlgn="base"/>
            <a:r>
              <a:rPr lang="en-US" b="1" dirty="0"/>
              <a:t>Requirements Clarification</a:t>
            </a:r>
            <a:r>
              <a:rPr lang="en-US" dirty="0"/>
              <a:t>: They clarify how system components or external entities should interact, ensuring everyone has a common understanding of system behavior.</a:t>
            </a:r>
          </a:p>
          <a:p>
            <a:pPr fontAlgn="base"/>
            <a:r>
              <a:rPr lang="en-US" b="1" dirty="0"/>
              <a:t>Debugging and Troubleshooting</a:t>
            </a:r>
            <a:r>
              <a:rPr lang="en-US" dirty="0"/>
              <a:t>: Developers use sequence diagrams to track the order and timing of messages, helping identify and fix issues in system interactions.</a:t>
            </a:r>
          </a:p>
          <a:p>
            <a:endParaRPr lang="en-US" dirty="0"/>
          </a:p>
        </p:txBody>
      </p:sp>
    </p:spTree>
    <p:extLst>
      <p:ext uri="{BB962C8B-B14F-4D97-AF65-F5344CB8AC3E}">
        <p14:creationId xmlns:p14="http://schemas.microsoft.com/office/powerpoint/2010/main" val="1838157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ACB4-9A28-C57B-F04C-5399438F5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EC41-C8A1-FBA8-5438-C6EBFDB87C21}"/>
              </a:ext>
            </a:extLst>
          </p:cNvPr>
          <p:cNvSpPr>
            <a:spLocks noGrp="1"/>
          </p:cNvSpPr>
          <p:nvPr>
            <p:ph type="title"/>
          </p:nvPr>
        </p:nvSpPr>
        <p:spPr/>
        <p:txBody>
          <a:bodyPr/>
          <a:lstStyle/>
          <a:p>
            <a:r>
              <a:rPr lang="en-US" dirty="0"/>
              <a:t>Basic Components</a:t>
            </a:r>
          </a:p>
        </p:txBody>
      </p:sp>
      <p:sp>
        <p:nvSpPr>
          <p:cNvPr id="3" name="Content Placeholder 2">
            <a:extLst>
              <a:ext uri="{FF2B5EF4-FFF2-40B4-BE49-F238E27FC236}">
                <a16:creationId xmlns:a16="http://schemas.microsoft.com/office/drawing/2014/main" id="{EB9D5E2B-1CD3-AB9B-7407-D428C574A26D}"/>
              </a:ext>
            </a:extLst>
          </p:cNvPr>
          <p:cNvSpPr>
            <a:spLocks noGrp="1"/>
          </p:cNvSpPr>
          <p:nvPr>
            <p:ph idx="1"/>
          </p:nvPr>
        </p:nvSpPr>
        <p:spPr/>
        <p:txBody>
          <a:bodyPr>
            <a:normAutofit/>
          </a:bodyPr>
          <a:lstStyle/>
          <a:p>
            <a:pPr fontAlgn="base"/>
            <a:r>
              <a:rPr lang="en-US" b="1" dirty="0"/>
              <a:t>Actors → external users or systems</a:t>
            </a:r>
          </a:p>
          <a:p>
            <a:pPr fontAlgn="base"/>
            <a:endParaRPr lang="en-US" b="1" dirty="0"/>
          </a:p>
          <a:p>
            <a:pPr fontAlgn="base"/>
            <a:r>
              <a:rPr lang="en-US" b="1" dirty="0"/>
              <a:t>Objects → system components</a:t>
            </a:r>
          </a:p>
          <a:p>
            <a:pPr fontAlgn="base"/>
            <a:endParaRPr lang="en-US" b="1" dirty="0"/>
          </a:p>
          <a:p>
            <a:pPr fontAlgn="base"/>
            <a:r>
              <a:rPr lang="en-US" b="1" dirty="0"/>
              <a:t>Lifelines → represent existence over time</a:t>
            </a:r>
          </a:p>
          <a:p>
            <a:pPr fontAlgn="base"/>
            <a:endParaRPr lang="en-US" b="1" dirty="0"/>
          </a:p>
          <a:p>
            <a:pPr fontAlgn="base"/>
            <a:r>
              <a:rPr lang="en-US" b="1" dirty="0"/>
              <a:t>Messages → communication between objects</a:t>
            </a:r>
            <a:endParaRPr lang="en-US" dirty="0"/>
          </a:p>
        </p:txBody>
      </p:sp>
    </p:spTree>
    <p:extLst>
      <p:ext uri="{BB962C8B-B14F-4D97-AF65-F5344CB8AC3E}">
        <p14:creationId xmlns:p14="http://schemas.microsoft.com/office/powerpoint/2010/main" val="3398863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Actor-11">
            <a:extLst>
              <a:ext uri="{FF2B5EF4-FFF2-40B4-BE49-F238E27FC236}">
                <a16:creationId xmlns:a16="http://schemas.microsoft.com/office/drawing/2014/main" id="{DDF8EA37-3596-268A-4593-16804C8F0B3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569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5891BF-E925-DD78-23BB-0CDEAA52033E}"/>
            </a:ext>
          </a:extLst>
        </p:cNvPr>
        <p:cNvGrpSpPr/>
        <p:nvPr/>
      </p:nvGrpSpPr>
      <p:grpSpPr>
        <a:xfrm>
          <a:off x="0" y="0"/>
          <a:ext cx="0" cy="0"/>
          <a:chOff x="0" y="0"/>
          <a:chExt cx="0" cy="0"/>
        </a:xfrm>
      </p:grpSpPr>
      <p:pic>
        <p:nvPicPr>
          <p:cNvPr id="5124" name="Picture 4" descr="Sequence-Diagrams">
            <a:extLst>
              <a:ext uri="{FF2B5EF4-FFF2-40B4-BE49-F238E27FC236}">
                <a16:creationId xmlns:a16="http://schemas.microsoft.com/office/drawing/2014/main" id="{EFE7620A-9EDC-6FAB-6853-09897C8A263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96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1A5B17-8E48-D644-7CC2-0899E9E31CB4}"/>
            </a:ext>
          </a:extLst>
        </p:cNvPr>
        <p:cNvGrpSpPr/>
        <p:nvPr/>
      </p:nvGrpSpPr>
      <p:grpSpPr>
        <a:xfrm>
          <a:off x="0" y="0"/>
          <a:ext cx="0" cy="0"/>
          <a:chOff x="0" y="0"/>
          <a:chExt cx="0" cy="0"/>
        </a:xfrm>
      </p:grpSpPr>
      <p:pic>
        <p:nvPicPr>
          <p:cNvPr id="5126" name="Picture 6" descr="Different-Types-of-Messages">
            <a:extLst>
              <a:ext uri="{FF2B5EF4-FFF2-40B4-BE49-F238E27FC236}">
                <a16:creationId xmlns:a16="http://schemas.microsoft.com/office/drawing/2014/main" id="{97E2DF06-ABAE-8DCD-A3EE-00A212455AF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65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059F-E50F-65E6-44BC-AAFBD42693C8}"/>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CDE7BC74-EE72-ADAE-6808-F0785BC369ED}"/>
              </a:ext>
            </a:extLst>
          </p:cNvPr>
          <p:cNvSpPr>
            <a:spLocks noGrp="1"/>
          </p:cNvSpPr>
          <p:nvPr>
            <p:ph idx="1"/>
          </p:nvPr>
        </p:nvSpPr>
        <p:spPr/>
        <p:txBody>
          <a:bodyPr/>
          <a:lstStyle/>
          <a:p>
            <a:pPr fontAlgn="base"/>
            <a:r>
              <a:rPr lang="en-US" b="1" dirty="0"/>
              <a:t>1. Synchronous messages</a:t>
            </a:r>
          </a:p>
          <a:p>
            <a:pPr fontAlgn="base"/>
            <a:r>
              <a:rPr lang="en-US" dirty="0"/>
              <a:t>A synchronous message waits for a reply before the interaction can move forward. The sender waits until the receiver has completed the processing of the message. The caller continues only when it knows that the receiver has processed the previous message i.e. it receives a reply message.</a:t>
            </a:r>
          </a:p>
          <a:p>
            <a:pPr fontAlgn="base"/>
            <a:r>
              <a:rPr lang="en-US" dirty="0"/>
              <a:t>A large number of calls in object oriented programming are synchronous.</a:t>
            </a:r>
          </a:p>
          <a:p>
            <a:pPr fontAlgn="base"/>
            <a:r>
              <a:rPr lang="en-US" dirty="0"/>
              <a:t>We use a solid arrow head to represent a synchronous message.</a:t>
            </a:r>
          </a:p>
          <a:p>
            <a:endParaRPr lang="en-US" dirty="0"/>
          </a:p>
        </p:txBody>
      </p:sp>
    </p:spTree>
    <p:extLst>
      <p:ext uri="{BB962C8B-B14F-4D97-AF65-F5344CB8AC3E}">
        <p14:creationId xmlns:p14="http://schemas.microsoft.com/office/powerpoint/2010/main" val="1435954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3ED6E-01CA-28A5-5898-2A919C428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0F407-11B2-59E9-A54D-25EE0F5522E7}"/>
              </a:ext>
            </a:extLst>
          </p:cNvPr>
          <p:cNvSpPr>
            <a:spLocks noGrp="1"/>
          </p:cNvSpPr>
          <p:nvPr>
            <p:ph type="title"/>
          </p:nvPr>
        </p:nvSpPr>
        <p:spPr/>
        <p:txBody>
          <a:bodyPr/>
          <a:lstStyle/>
          <a:p>
            <a:r>
              <a:rPr lang="en-US" dirty="0"/>
              <a:t>Types of messages</a:t>
            </a:r>
          </a:p>
        </p:txBody>
      </p:sp>
      <p:pic>
        <p:nvPicPr>
          <p:cNvPr id="6146" name="Picture 2" descr="Synchronus-Message-22">
            <a:extLst>
              <a:ext uri="{FF2B5EF4-FFF2-40B4-BE49-F238E27FC236}">
                <a16:creationId xmlns:a16="http://schemas.microsoft.com/office/drawing/2014/main" id="{6D9072F1-F14E-417A-12B6-5075E06087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645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E1CE-4660-E665-1FF8-6ADF7A672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1F652-64D0-6900-97E4-738CBBAF0A90}"/>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E7DD710E-1036-B07F-2914-B20742527499}"/>
              </a:ext>
            </a:extLst>
          </p:cNvPr>
          <p:cNvSpPr>
            <a:spLocks noGrp="1"/>
          </p:cNvSpPr>
          <p:nvPr>
            <p:ph idx="1"/>
          </p:nvPr>
        </p:nvSpPr>
        <p:spPr/>
        <p:txBody>
          <a:bodyPr/>
          <a:lstStyle/>
          <a:p>
            <a:pPr fontAlgn="base"/>
            <a:r>
              <a:rPr lang="en-US" b="1" dirty="0"/>
              <a:t>2. Asynchronous Messages</a:t>
            </a:r>
          </a:p>
          <a:p>
            <a:pPr fontAlgn="base"/>
            <a:r>
              <a:rPr lang="en-US" dirty="0"/>
              <a:t>An asynchronous message does not wait for a reply from the receiver. The interaction moves forward irrespective of the receiver processing the previous message or not. We use a lined arrow head to represent an asynchronous message.</a:t>
            </a:r>
          </a:p>
        </p:txBody>
      </p:sp>
    </p:spTree>
    <p:extLst>
      <p:ext uri="{BB962C8B-B14F-4D97-AF65-F5344CB8AC3E}">
        <p14:creationId xmlns:p14="http://schemas.microsoft.com/office/powerpoint/2010/main" val="2805378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20B91-763E-AEB4-B6BA-F19072A1A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3E5AD-3520-308F-37EF-F8B36A607F81}"/>
              </a:ext>
            </a:extLst>
          </p:cNvPr>
          <p:cNvSpPr>
            <a:spLocks noGrp="1"/>
          </p:cNvSpPr>
          <p:nvPr>
            <p:ph type="title"/>
          </p:nvPr>
        </p:nvSpPr>
        <p:spPr/>
        <p:txBody>
          <a:bodyPr/>
          <a:lstStyle/>
          <a:p>
            <a:r>
              <a:rPr lang="en-US" dirty="0"/>
              <a:t>Types of messages</a:t>
            </a:r>
          </a:p>
        </p:txBody>
      </p:sp>
      <p:pic>
        <p:nvPicPr>
          <p:cNvPr id="9220" name="Picture 4" descr="Asynchronus-Message">
            <a:extLst>
              <a:ext uri="{FF2B5EF4-FFF2-40B4-BE49-F238E27FC236}">
                <a16:creationId xmlns:a16="http://schemas.microsoft.com/office/drawing/2014/main" id="{0A6A9563-5160-4714-8822-CA780B1311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82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7508-F038-28AF-EE96-4521F32412A7}"/>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05F9359F-BA67-4919-8735-024ED29023F9}"/>
              </a:ext>
            </a:extLst>
          </p:cNvPr>
          <p:cNvSpPr>
            <a:spLocks noGrp="1"/>
          </p:cNvSpPr>
          <p:nvPr>
            <p:ph idx="1"/>
          </p:nvPr>
        </p:nvSpPr>
        <p:spPr/>
        <p:txBody>
          <a:bodyPr>
            <a:normAutofit/>
          </a:bodyPr>
          <a:lstStyle/>
          <a:p>
            <a:pPr fontAlgn="base"/>
            <a:r>
              <a:rPr lang="en-US" b="1" dirty="0"/>
              <a:t>4. Create message</a:t>
            </a:r>
          </a:p>
          <a:p>
            <a:pPr fontAlgn="base"/>
            <a:r>
              <a:rPr lang="en-US" dirty="0"/>
              <a:t>We use a Create message to instantiate a new object in the sequence diagram. There are situations when a particular message call requires the creation of an object. It is represented with a dotted arrow and create word labelled on it to specify that it is the create Message symbol.</a:t>
            </a:r>
          </a:p>
          <a:p>
            <a:pPr fontAlgn="base"/>
            <a:r>
              <a:rPr lang="en-US" dirty="0"/>
              <a:t>For example:</a:t>
            </a:r>
          </a:p>
          <a:p>
            <a:pPr fontAlgn="base"/>
            <a:r>
              <a:rPr lang="en-US" i="1" dirty="0"/>
              <a:t>The creation of a new order on a e-commerce website would require a new object of Order class to be created. </a:t>
            </a:r>
            <a:br>
              <a:rPr lang="en-US" dirty="0"/>
            </a:br>
            <a:endParaRPr lang="en-US" dirty="0"/>
          </a:p>
        </p:txBody>
      </p:sp>
    </p:spTree>
    <p:extLst>
      <p:ext uri="{BB962C8B-B14F-4D97-AF65-F5344CB8AC3E}">
        <p14:creationId xmlns:p14="http://schemas.microsoft.com/office/powerpoint/2010/main" val="3868852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009B-0480-4CF6-DFD4-DDCF8B968495}"/>
              </a:ext>
            </a:extLst>
          </p:cNvPr>
          <p:cNvSpPr>
            <a:spLocks noGrp="1"/>
          </p:cNvSpPr>
          <p:nvPr>
            <p:ph type="title"/>
          </p:nvPr>
        </p:nvSpPr>
        <p:spPr/>
        <p:txBody>
          <a:bodyPr/>
          <a:lstStyle/>
          <a:p>
            <a:r>
              <a:rPr lang="en-US" dirty="0"/>
              <a:t>Types of messages</a:t>
            </a:r>
          </a:p>
        </p:txBody>
      </p:sp>
      <p:pic>
        <p:nvPicPr>
          <p:cNvPr id="10242" name="Picture 2" descr="Create-Message">
            <a:extLst>
              <a:ext uri="{FF2B5EF4-FFF2-40B4-BE49-F238E27FC236}">
                <a16:creationId xmlns:a16="http://schemas.microsoft.com/office/drawing/2014/main" id="{78BBADAC-E0C1-7F48-F830-48D37D7209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844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03A39-B4D1-A560-5134-0A5EB8733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0A998-E5BA-16B4-850C-5E7D9F1373EB}"/>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D0B0CEAC-7A5B-2242-7F57-EDE3767D02E3}"/>
              </a:ext>
            </a:extLst>
          </p:cNvPr>
          <p:cNvSpPr>
            <a:spLocks noGrp="1"/>
          </p:cNvSpPr>
          <p:nvPr>
            <p:ph idx="1"/>
          </p:nvPr>
        </p:nvSpPr>
        <p:spPr/>
        <p:txBody>
          <a:bodyPr>
            <a:normAutofit/>
          </a:bodyPr>
          <a:lstStyle/>
          <a:p>
            <a:pPr fontAlgn="base"/>
            <a:r>
              <a:rPr lang="en-US" b="1" dirty="0"/>
              <a:t>5. Delete Message</a:t>
            </a:r>
          </a:p>
          <a:p>
            <a:pPr fontAlgn="base"/>
            <a:r>
              <a:rPr lang="en-US" dirty="0"/>
              <a:t>We use a Delete Message to delete an object. When an object is deallocated memory or is destroyed within the system we use the Delete Message symbol. It destroys the occurrence of the object in the system. It is represented by an arrow terminating with a x.</a:t>
            </a:r>
          </a:p>
          <a:p>
            <a:pPr fontAlgn="base"/>
            <a:r>
              <a:rPr lang="en-US" dirty="0"/>
              <a:t>For example:</a:t>
            </a:r>
          </a:p>
          <a:p>
            <a:pPr fontAlgn="base"/>
            <a:r>
              <a:rPr lang="en-US" i="1" dirty="0"/>
              <a:t>In the scenario below when the order is received by the user, the object of order class can be destroyed. </a:t>
            </a:r>
          </a:p>
          <a:p>
            <a:pPr marL="0" indent="0">
              <a:buNone/>
            </a:pPr>
            <a:endParaRPr lang="en-US" dirty="0"/>
          </a:p>
        </p:txBody>
      </p:sp>
    </p:spTree>
    <p:extLst>
      <p:ext uri="{BB962C8B-B14F-4D97-AF65-F5344CB8AC3E}">
        <p14:creationId xmlns:p14="http://schemas.microsoft.com/office/powerpoint/2010/main" val="232490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1337-5428-B320-7F94-64E074D7C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DD1F7-77F2-C292-A7AC-CFA0F28EE0AE}"/>
              </a:ext>
            </a:extLst>
          </p:cNvPr>
          <p:cNvSpPr>
            <a:spLocks noGrp="1"/>
          </p:cNvSpPr>
          <p:nvPr>
            <p:ph type="title"/>
          </p:nvPr>
        </p:nvSpPr>
        <p:spPr/>
        <p:txBody>
          <a:bodyPr/>
          <a:lstStyle/>
          <a:p>
            <a:r>
              <a:rPr lang="en-US" dirty="0"/>
              <a:t>Types of messages</a:t>
            </a:r>
          </a:p>
        </p:txBody>
      </p:sp>
      <p:pic>
        <p:nvPicPr>
          <p:cNvPr id="12290" name="Picture 2" descr="Delete-Image">
            <a:extLst>
              <a:ext uri="{FF2B5EF4-FFF2-40B4-BE49-F238E27FC236}">
                <a16:creationId xmlns:a16="http://schemas.microsoft.com/office/drawing/2014/main" id="{CB42CAA6-792F-CCEE-059E-2DEFAA815E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38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1EE12-726E-11A8-E33B-90873A9CB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78526-9486-278C-80D4-A0AB47320527}"/>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251A3213-E5C8-5827-9AB1-BF3FC6213F44}"/>
              </a:ext>
            </a:extLst>
          </p:cNvPr>
          <p:cNvSpPr>
            <a:spLocks noGrp="1"/>
          </p:cNvSpPr>
          <p:nvPr>
            <p:ph idx="1"/>
          </p:nvPr>
        </p:nvSpPr>
        <p:spPr/>
        <p:txBody>
          <a:bodyPr>
            <a:normAutofit/>
          </a:bodyPr>
          <a:lstStyle/>
          <a:p>
            <a:pPr fontAlgn="base"/>
            <a:r>
              <a:rPr lang="en-US" b="1" dirty="0"/>
              <a:t>6. Self Message</a:t>
            </a:r>
          </a:p>
          <a:p>
            <a:pPr fontAlgn="base"/>
            <a:r>
              <a:rPr lang="en-US" dirty="0"/>
              <a:t>Certain scenarios might arise where the object needs to send a message to itself. Such messages are called Self Messages and are represented with a U shaped arrow.</a:t>
            </a:r>
          </a:p>
          <a:p>
            <a:pPr fontAlgn="base"/>
            <a:r>
              <a:rPr lang="en-US" b="1" dirty="0"/>
              <a:t>For example:</a:t>
            </a:r>
          </a:p>
          <a:p>
            <a:pPr fontAlgn="base"/>
            <a:r>
              <a:rPr lang="en-US" i="1" dirty="0"/>
              <a:t>Consider a scenario where the device wants to access its webcam. Such a scenario is represented using a self message. </a:t>
            </a:r>
          </a:p>
          <a:p>
            <a:pPr fontAlgn="base"/>
            <a:endParaRPr lang="en-US" dirty="0"/>
          </a:p>
        </p:txBody>
      </p:sp>
    </p:spTree>
    <p:extLst>
      <p:ext uri="{BB962C8B-B14F-4D97-AF65-F5344CB8AC3E}">
        <p14:creationId xmlns:p14="http://schemas.microsoft.com/office/powerpoint/2010/main" val="4205648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445B2-A4A8-D276-D587-5FD6888537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263AD-BC76-056E-5BF4-5B2529FE4E10}"/>
              </a:ext>
            </a:extLst>
          </p:cNvPr>
          <p:cNvSpPr>
            <a:spLocks noGrp="1"/>
          </p:cNvSpPr>
          <p:nvPr>
            <p:ph type="title"/>
          </p:nvPr>
        </p:nvSpPr>
        <p:spPr/>
        <p:txBody>
          <a:bodyPr/>
          <a:lstStyle/>
          <a:p>
            <a:r>
              <a:rPr lang="en-US" dirty="0"/>
              <a:t>Types of messages</a:t>
            </a:r>
          </a:p>
        </p:txBody>
      </p:sp>
      <p:pic>
        <p:nvPicPr>
          <p:cNvPr id="14340" name="Picture 4" descr="self-image-1">
            <a:extLst>
              <a:ext uri="{FF2B5EF4-FFF2-40B4-BE49-F238E27FC236}">
                <a16:creationId xmlns:a16="http://schemas.microsoft.com/office/drawing/2014/main" id="{FD90B35F-4028-E70A-7BC2-11B84CFA32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946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92C3F-B24F-3AF3-C4DF-0CDEA74160E5}"/>
              </a:ext>
            </a:extLst>
          </p:cNvPr>
          <p:cNvSpPr>
            <a:spLocks noGrp="1"/>
          </p:cNvSpPr>
          <p:nvPr>
            <p:ph type="title"/>
          </p:nvPr>
        </p:nvSpPr>
        <p:spPr/>
        <p:txBody>
          <a:bodyPr/>
          <a:lstStyle/>
          <a:p>
            <a:r>
              <a:rPr lang="en-US" dirty="0"/>
              <a:t>Types of messages</a:t>
            </a:r>
          </a:p>
        </p:txBody>
      </p:sp>
      <p:sp>
        <p:nvSpPr>
          <p:cNvPr id="3" name="Content Placeholder 2">
            <a:extLst>
              <a:ext uri="{FF2B5EF4-FFF2-40B4-BE49-F238E27FC236}">
                <a16:creationId xmlns:a16="http://schemas.microsoft.com/office/drawing/2014/main" id="{EBF6FA3F-E4C0-CB4F-47FB-245008501A7A}"/>
              </a:ext>
            </a:extLst>
          </p:cNvPr>
          <p:cNvSpPr>
            <a:spLocks noGrp="1"/>
          </p:cNvSpPr>
          <p:nvPr>
            <p:ph idx="1"/>
          </p:nvPr>
        </p:nvSpPr>
        <p:spPr/>
        <p:txBody>
          <a:bodyPr/>
          <a:lstStyle/>
          <a:p>
            <a:pPr fontAlgn="base"/>
            <a:r>
              <a:rPr lang="en-US" b="1" dirty="0"/>
              <a:t>7. Reply Message</a:t>
            </a:r>
          </a:p>
          <a:p>
            <a:pPr fontAlgn="base"/>
            <a:r>
              <a:rPr lang="en-US" dirty="0"/>
              <a:t>Reply messages are used to show the message being sent from the receiver to the sender. We represent a return/reply message using an open arrow head with a dotted line. The interaction moves forward only when a reply message is sent by the receiver.</a:t>
            </a:r>
          </a:p>
        </p:txBody>
      </p:sp>
    </p:spTree>
    <p:extLst>
      <p:ext uri="{BB962C8B-B14F-4D97-AF65-F5344CB8AC3E}">
        <p14:creationId xmlns:p14="http://schemas.microsoft.com/office/powerpoint/2010/main" val="2769350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95BCC-BCDE-7DED-778D-EBE717594C62}"/>
              </a:ext>
            </a:extLst>
          </p:cNvPr>
          <p:cNvSpPr>
            <a:spLocks noGrp="1"/>
          </p:cNvSpPr>
          <p:nvPr>
            <p:ph type="title"/>
          </p:nvPr>
        </p:nvSpPr>
        <p:spPr/>
        <p:txBody>
          <a:bodyPr/>
          <a:lstStyle/>
          <a:p>
            <a:r>
              <a:rPr lang="en-US" dirty="0"/>
              <a:t>Types of messages</a:t>
            </a:r>
          </a:p>
        </p:txBody>
      </p:sp>
      <p:pic>
        <p:nvPicPr>
          <p:cNvPr id="15362" name="Picture 2" descr="Reply-Message">
            <a:extLst>
              <a:ext uri="{FF2B5EF4-FFF2-40B4-BE49-F238E27FC236}">
                <a16:creationId xmlns:a16="http://schemas.microsoft.com/office/drawing/2014/main" id="{3ED271A5-09EC-2CA6-0888-F94DC73E3B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045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99FD8-629E-E5EA-A337-902C44EDE20D}"/>
              </a:ext>
            </a:extLst>
          </p:cNvPr>
          <p:cNvSpPr>
            <a:spLocks noGrp="1"/>
          </p:cNvSpPr>
          <p:nvPr>
            <p:ph type="title"/>
          </p:nvPr>
        </p:nvSpPr>
        <p:spPr/>
        <p:txBody>
          <a:bodyPr/>
          <a:lstStyle/>
          <a:p>
            <a:r>
              <a:rPr lang="en-US" dirty="0"/>
              <a:t>Example</a:t>
            </a:r>
            <a:br>
              <a:rPr lang="en-US" dirty="0"/>
            </a:br>
            <a:endParaRPr lang="en-US" dirty="0"/>
          </a:p>
        </p:txBody>
      </p:sp>
      <p:pic>
        <p:nvPicPr>
          <p:cNvPr id="16386" name="Picture 2" descr="Example-sequence-diagram-2">
            <a:extLst>
              <a:ext uri="{FF2B5EF4-FFF2-40B4-BE49-F238E27FC236}">
                <a16:creationId xmlns:a16="http://schemas.microsoft.com/office/drawing/2014/main" id="{A0AE3239-090A-9554-28BC-09ADA8EDDF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296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8CB9-95E8-2C64-4EA9-FAF7068F8195}"/>
              </a:ext>
            </a:extLst>
          </p:cNvPr>
          <p:cNvSpPr>
            <a:spLocks noGrp="1"/>
          </p:cNvSpPr>
          <p:nvPr>
            <p:ph type="title"/>
          </p:nvPr>
        </p:nvSpPr>
        <p:spPr/>
        <p:txBody>
          <a:bodyPr/>
          <a:lstStyle/>
          <a:p>
            <a:r>
              <a:rPr lang="en-US" dirty="0"/>
              <a:t>Example</a:t>
            </a:r>
            <a:br>
              <a:rPr lang="en-US" dirty="0"/>
            </a:br>
            <a:endParaRPr lang="en-US" dirty="0"/>
          </a:p>
        </p:txBody>
      </p:sp>
      <p:pic>
        <p:nvPicPr>
          <p:cNvPr id="17410" name="Picture 2" descr="Sequence Diagrams - Unified Modeling Language (UML) - GeeksforGeeks">
            <a:extLst>
              <a:ext uri="{FF2B5EF4-FFF2-40B4-BE49-F238E27FC236}">
                <a16:creationId xmlns:a16="http://schemas.microsoft.com/office/drawing/2014/main" id="{AD341645-4FB8-D80C-FA79-DCEFCB415F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1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C471-6ECC-B454-B1D1-B2CF961C15ED}"/>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6B252CF5-9A82-5A94-7D86-A03FA6641963}"/>
              </a:ext>
            </a:extLst>
          </p:cNvPr>
          <p:cNvSpPr>
            <a:spLocks noGrp="1"/>
          </p:cNvSpPr>
          <p:nvPr>
            <p:ph idx="1"/>
          </p:nvPr>
        </p:nvSpPr>
        <p:spPr/>
        <p:txBody>
          <a:bodyPr>
            <a:normAutofit fontScale="92500" lnSpcReduction="10000"/>
          </a:bodyPr>
          <a:lstStyle/>
          <a:p>
            <a:r>
              <a:rPr lang="en-US" dirty="0"/>
              <a:t>A customer uses an online food ordering application to place an order. First, the customer opens the app and selects a restaurant. The system then retrieves the restaurant’s menu from the database and displays it to the customer. After browsing the menu, the customer selects the desired items and places an order. The system processes this request and sends the order details to the restaurant. The restaurant reviews the order and sends a confirmation back to the system. Following this, the system initiates a payment request through a payment gateway. Once the payment is successfully completed, the system confirms the order and proceeds to arrange its delivery.</a:t>
            </a:r>
          </a:p>
          <a:p>
            <a:r>
              <a:rPr lang="en-US" b="1" dirty="0"/>
              <a:t>Question:</a:t>
            </a:r>
            <a:r>
              <a:rPr lang="en-US" dirty="0"/>
              <a:t> Draw a sequence diagram that represents this scenario, clearly identifying the actors, system components, and the messages exchanged between them in the correct order.</a:t>
            </a:r>
          </a:p>
          <a:p>
            <a:endParaRPr lang="en-US" dirty="0"/>
          </a:p>
        </p:txBody>
      </p:sp>
    </p:spTree>
    <p:extLst>
      <p:ext uri="{BB962C8B-B14F-4D97-AF65-F5344CB8AC3E}">
        <p14:creationId xmlns:p14="http://schemas.microsoft.com/office/powerpoint/2010/main" val="832780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5B6449-290F-158D-F334-7A428ABB5C79}"/>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Summary</a:t>
            </a:r>
          </a:p>
        </p:txBody>
      </p:sp>
      <p:graphicFrame>
        <p:nvGraphicFramePr>
          <p:cNvPr id="6" name="Rectangle 1">
            <a:extLst>
              <a:ext uri="{FF2B5EF4-FFF2-40B4-BE49-F238E27FC236}">
                <a16:creationId xmlns:a16="http://schemas.microsoft.com/office/drawing/2014/main" id="{72EAE7F4-AF7D-1B83-C59C-78350267D1F7}"/>
              </a:ext>
            </a:extLst>
          </p:cNvPr>
          <p:cNvGraphicFramePr>
            <a:graphicFrameLocks noGrp="1"/>
          </p:cNvGraphicFramePr>
          <p:nvPr>
            <p:ph idx="1"/>
            <p:extLst>
              <p:ext uri="{D42A27DB-BD31-4B8C-83A1-F6EECF244321}">
                <p14:modId xmlns:p14="http://schemas.microsoft.com/office/powerpoint/2010/main" val="72525606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161479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439</TotalTime>
  <Words>1009</Words>
  <Application>Microsoft Office PowerPoint</Application>
  <PresentationFormat>Widescreen</PresentationFormat>
  <Paragraphs>81</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2013 - 2022 Theme</vt:lpstr>
      <vt:lpstr>UML Sequence Diagram</vt:lpstr>
      <vt:lpstr>UML </vt:lpstr>
      <vt:lpstr>PowerPoint Presentation</vt:lpstr>
      <vt:lpstr>Structural diagrams</vt:lpstr>
      <vt:lpstr> Behavioral diagrams</vt:lpstr>
      <vt:lpstr>Sequence Diagram</vt:lpstr>
      <vt:lpstr>What is a Sequence Diagram?</vt:lpstr>
      <vt:lpstr>Why Use Sequence Diagrams?</vt:lpstr>
      <vt:lpstr>Use cases of Sequence Diagrams</vt:lpstr>
      <vt:lpstr>Basic Components</vt:lpstr>
      <vt:lpstr>PowerPoint Presentation</vt:lpstr>
      <vt:lpstr>PowerPoint Presentation</vt:lpstr>
      <vt:lpstr>PowerPoint Presentation</vt:lpstr>
      <vt:lpstr>Types of messages</vt:lpstr>
      <vt:lpstr>Types of messages</vt:lpstr>
      <vt:lpstr>Types of messages</vt:lpstr>
      <vt:lpstr>Types of messages</vt:lpstr>
      <vt:lpstr>Types of messages</vt:lpstr>
      <vt:lpstr>Types of messages</vt:lpstr>
      <vt:lpstr>Types of messages</vt:lpstr>
      <vt:lpstr>Types of messages</vt:lpstr>
      <vt:lpstr>Types of messages</vt:lpstr>
      <vt:lpstr>Types of messages</vt:lpstr>
      <vt:lpstr>Types of messages</vt:lpstr>
      <vt:lpstr>Types of messages</vt:lpstr>
      <vt:lpstr>Example </vt:lpstr>
      <vt:lpstr>Example </vt:lpstr>
      <vt:lpstr>Question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Blu Clone</dc:creator>
  <cp:lastModifiedBy>Blu Clone</cp:lastModifiedBy>
  <cp:revision>61</cp:revision>
  <dcterms:created xsi:type="dcterms:W3CDTF">2026-03-08T19:46:11Z</dcterms:created>
  <dcterms:modified xsi:type="dcterms:W3CDTF">2026-04-05T21:47:16Z</dcterms:modified>
</cp:coreProperties>
</file>